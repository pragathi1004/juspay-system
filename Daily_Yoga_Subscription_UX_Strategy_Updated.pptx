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7286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548640" rIns="73152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THE ART OF LIVING • SRI SRI YOGA</a:t>
            </a:r>
          </a:p>
          <a:p>
            <a:pPr>
              <a:spcBef>
                <a:spcPts val="1200"/>
              </a:spcBef>
              <a:defRPr sz="3200" b="1">
                <a:solidFill>
                  <a:srgbClr val="1E293B"/>
                </a:solidFill>
              </a:defRPr>
            </a:pPr>
            <a:r>
              <a:t>Subscription &amp; Auto-Payment UX Strategy</a:t>
            </a:r>
          </a:p>
          <a:p>
            <a:pPr>
              <a:spcBef>
                <a:spcPts val="800"/>
              </a:spcBef>
              <a:defRPr sz="1500">
                <a:solidFill>
                  <a:srgbClr val="64748B"/>
                </a:solidFill>
              </a:defRPr>
            </a:pPr>
            <a:r>
              <a:t>Research-Backed Recommendations for Purchase Funnel Optimization, Payment Models &amp; Subscription Lifecycle Management</a:t>
            </a:r>
          </a:p>
          <a:p>
            <a:pPr>
              <a:spcBef>
                <a:spcPts val="2800"/>
              </a:spcBef>
              <a:defRPr sz="1200" b="1">
                <a:solidFill>
                  <a:srgbClr val="9A3412"/>
                </a:solidFill>
              </a:defRPr>
            </a:pPr>
            <a:r>
              <a:t>CORE STRATEGIC MANDATES &amp; DECISIONS: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Core Principle: PAY FIRST → COMPLETE PROFILE AFTER (Eliminating the Pre-Payment Registration Trap)</a:t>
            </a:r>
            <a:br/>
            <a:r>
              <a:t>• Business Reality: Evaluating One-Time vs Recurring Payments in light of ~20% Current Renewal Rates</a:t>
            </a:r>
            <a:br/>
            <a:r>
              <a:t>• Competitor Benchmarks: Multi-dimensional study of Cult.fit, Habuild, Satvic Movement, Isha Yoga, Times Health+, Kamya</a:t>
            </a:r>
            <a:br/>
            <a:r>
              <a:t>• Complete Subscription Lifecycle: Pause entitlement, frictionless cancellation, plan switching &amp; teacher credibility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EXECUTIVE DECISION MANDATE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Executive Summary: 3 Transformational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Key strategic choices to maximize purchase conversion and long-term spiritual community retention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100" b="1">
                <a:solidFill>
                  <a:srgbClr val="EA580C"/>
                </a:solidFill>
              </a:defRPr>
            </a:pPr>
            <a:r>
              <a:t>1. FUNNEL FRICTION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Pay First → Profile After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Current blocker: 8+ mandatory profile fields (Age, PIN, City) demanded BEFORE payment.</a:t>
            </a:r>
            <a:br/>
            <a:r>
              <a:t>• Psychological impact: Creates severe friction at peak purchase intent.</a:t>
            </a:r>
            <a:br/>
            <a:r>
              <a:t>• Strategic Action: Shift personal profile collection post-payment. Collect ONLY authentication + payment essentials pre-checkout.</a:t>
            </a:r>
            <a:br/>
            <a:r>
              <a:t>• Expected Impact: +25% to +40% increase in checkout completions.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2. PAYMENT MODEL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Evaluate ~20% Renewal Reality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Current context: Baseline renewal rate is ~20%.</a:t>
            </a:r>
            <a:br/>
            <a:r>
              <a:t>• Risk of forced auto-debit: High mandate failure rates, customer anxiety, cancellation friction.</a:t>
            </a:r>
            <a:br/>
            <a:r>
              <a:t>• Strategic Action: Position 1-Time payment as default / transparent choice, with recurring auto-debit offered with explicit perks/discounts.</a:t>
            </a:r>
            <a:br/>
            <a:r>
              <a:t>• Expected Impact: Maximize initial conversion without compromising user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3. RETENTION &amp; TRUST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Lifecycle UX &amp; Teacher Trust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Pause Entitlement: Adopt 15/30/45-day pause pools to prevent cancellations during travel/illness.</a:t>
            </a:r>
            <a:br/>
            <a:r>
              <a:t>• Clean Cancellation: Zero dark patterns; transparent self-serve cancellation.</a:t>
            </a:r>
            <a:br/>
            <a:r>
              <a:t>• Teacher Lineage: Showcase teacher profiles &amp; credentials on landing page to build spiritual credibility.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PROBLEM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The Core Business Problem: The Pre-Payment Registration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Why asking for extensive profile details before payment suppresses checkout conversions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⚠️ THE CURRENT FRICTION PEAK</a:t>
            </a:r>
          </a:p>
          <a:p>
            <a:pPr>
              <a:spcBef>
                <a:spcPts val="600"/>
              </a:spcBef>
              <a:defRPr sz="1600" b="1">
                <a:solidFill>
                  <a:srgbClr val="1E293B"/>
                </a:solidFill>
              </a:defRPr>
            </a:pPr>
            <a:r>
              <a:t>Information Overload Before Value Realization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In the current prototype, immediately after WhatsApp OTP login, users are presented with a heavy 8-field form demanding:</a:t>
            </a:r>
            <a:br/>
            <a:br/>
            <a:r>
              <a:t>• First Name &amp; Last Name</a:t>
            </a:r>
            <a:br/>
            <a:r>
              <a:t>• WhatsApp Number (repeat confirmation)</a:t>
            </a:r>
            <a:br/>
            <a:r>
              <a:t>• Email Address</a:t>
            </a:r>
            <a:br/>
            <a:r>
              <a:t>• Age &amp; Date of Birth</a:t>
            </a:r>
            <a:br/>
            <a:r>
              <a:t>• Postal / PIN Code</a:t>
            </a:r>
            <a:br/>
            <a:r>
              <a:t>• City &amp; State</a:t>
            </a:r>
            <a:br/>
            <a:r>
              <a:t>• Class Language Selection</a:t>
            </a:r>
            <a:br/>
            <a:r>
              <a:t>• Multiple checkbox consents</a:t>
            </a:r>
            <a:br/>
            <a:br/>
            <a:r>
              <a:t>Consequence: The user has demonstrated purchase intent, but is forced into administrative data entry before experiencing any product value or completing checkout.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📉 CONVERSION DROP-OFF CHAIN</a:t>
            </a:r>
          </a:p>
          <a:p>
            <a:pPr>
              <a:spcBef>
                <a:spcPts val="600"/>
              </a:spcBef>
              <a:defRPr sz="1600" b="1">
                <a:solidFill>
                  <a:srgbClr val="1E293B"/>
                </a:solidFill>
              </a:defRPr>
            </a:pPr>
            <a:r>
              <a:t>How Cognitive Load Kills Payment Conversion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1. High Interaction Effort: Typing PIN codes, city, age, and name on mobile keyboards introduces cognitive fatigue.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2. Data Hesitation &amp; Privacy Anxiety: Users question why Sri Sri Yoga needs postal codes and age before they have even purchased.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3. Severe Funnel Drop-Off: Users abandon the browser tab during lengthy form entry before reaching Juspay checkout.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4. False Priority Conflict: Registration / profile completion is mistakenly prioritized over payment capture.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CURRENT FLOW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Current Purchase Journey: Friction Peak Before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 linear breakdown of the 8-step baseline user journey highlighting the critical abandonment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420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Landing Page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User explores benefits &amp; plan options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00200"/>
            <a:ext cx="25420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Select Plan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Selects 3M, 6M, or 12M membership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00200"/>
            <a:ext cx="25420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Get Started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Clicks CTA with high purchase intent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00200"/>
            <a:ext cx="25420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Login / OTP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Enters phone &amp; receives WhatsApp OTP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2542032" cy="21945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Personal Details</a:t>
            </a:r>
          </a:p>
          <a:p>
            <a:pPr>
              <a:spcBef>
                <a:spcPts val="600"/>
              </a:spcBef>
              <a:defRPr sz="950">
                <a:solidFill>
                  <a:srgbClr val="DC2626"/>
                </a:solidFill>
              </a:defRPr>
            </a:pPr>
            <a:r>
              <a:t>🔴 FRICTION PEAK: 8+ form fields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4023360"/>
            <a:ext cx="25420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Step 6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Yoga Questions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3 questions including redundant time 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4023360"/>
            <a:ext cx="25420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Step 7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Payment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Juspay AutoPay / UPI checkout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4023360"/>
            <a:ext cx="2542032" cy="219456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Step 8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Dashboard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Subscription active &amp; class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CORE UX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New Primary UX Principle: Pay First → Complete Profile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Aligning data collection timing with user purchase intent and psychological readiness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1188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9A3412"/>
                </a:solidFill>
              </a:defRPr>
            </a:pPr>
            <a:r>
              <a:t>CORE PRINCIPLE: PAY FIRST → COMPLETE PROFILE AFTER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Only collect information strictly required to authenticate the user and process payment. Defer all profile building post-conversion.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5212080" cy="32918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✅ MANDATORY BEFORE PAYMENT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</a:defRPr>
            </a:pPr>
            <a:r>
              <a:t>Essential for Authentication &amp; Processing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Mobile Number (for WhatsApp OTP login &amp; account security)</a:t>
            </a:r>
            <a:br/>
            <a:r>
              <a:t>• Authentication Token / OTP (proves user identity)</a:t>
            </a:r>
            <a:br/>
            <a:r>
              <a:t>• Selected Plan &amp; Billing Frequency (for order amount &amp; mandate)</a:t>
            </a:r>
            <a:br/>
            <a:r>
              <a:t>• Payment Gateway Authorization (UPI / Card / Mandate setup)</a:t>
            </a:r>
            <a:br/>
            <a:br/>
            <a:r>
              <a:t>Result: User completes purchase in &lt; 60 seconds with zero keyboard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718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📋 OPTIONAL / POST-PAYMENT PROFILE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</a:defRPr>
            </a:pPr>
            <a:r>
              <a:t>For Personalization &amp; Delivery (Post-Pay)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Participant Full Name (for certificate &amp; personalization)</a:t>
            </a:r>
            <a:br/>
            <a:r>
              <a:t>• Email Address (for calendar invites &amp; tax invoices)</a:t>
            </a:r>
            <a:br/>
            <a:r>
              <a:t>• Age &amp; Date of Birth (for health adaptations)</a:t>
            </a:r>
            <a:br/>
            <a:r>
              <a:t>• Postal / PIN Code &amp; City (for regional statistics)</a:t>
            </a:r>
            <a:br/>
            <a:r>
              <a:t>• Class Language Preference (Hindi, Telugu, Tamil, etc.)</a:t>
            </a:r>
            <a:br/>
            <a:br/>
            <a:r>
              <a:t>Result: 100% of paying users happily fill this out post-purchase.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RECOMMENDED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Recommended Alternative Flow: Rapid Payment → Rich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Streamlined 7-step high-converting architecture moving all administrative data collection post-payment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420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Phase 1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Landing Page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Hero CTA + Teacher Profiles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00200"/>
            <a:ext cx="25420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Phase 2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Plan Selection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Transparent 3M/6M/12M terms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00200"/>
            <a:ext cx="25420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Mobile OTP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Fast WhatsApp OTP auth (10s)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00200"/>
            <a:ext cx="2542032" cy="2194560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Phase 4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3 Quick Questions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High-value intent &amp; starting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2542032" cy="219456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166534"/>
                </a:solidFill>
              </a:defRPr>
            </a:pPr>
            <a:r>
              <a:t>Phase 5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PAYMENT GATEWAY</a:t>
            </a:r>
          </a:p>
          <a:p>
            <a:pPr>
              <a:spcBef>
                <a:spcPts val="600"/>
              </a:spcBef>
              <a:defRPr sz="950">
                <a:solidFill>
                  <a:srgbClr val="166534"/>
                </a:solidFill>
              </a:defRPr>
            </a:pPr>
            <a:r>
              <a:t>Juspay Checkout (Peak Intent)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4023360"/>
            <a:ext cx="2542032" cy="219456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166534"/>
                </a:solidFill>
              </a:defRPr>
            </a:pPr>
            <a:r>
              <a:t>Phase 6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Payment Success 🎉</a:t>
            </a:r>
          </a:p>
          <a:p>
            <a:pPr>
              <a:spcBef>
                <a:spcPts val="600"/>
              </a:spcBef>
              <a:defRPr sz="950">
                <a:solidFill>
                  <a:srgbClr val="166534"/>
                </a:solidFill>
              </a:defRPr>
            </a:pPr>
            <a:r>
              <a:t>Subscription instantly activated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4023360"/>
            <a:ext cx="25420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Phase 7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Complete Profile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Progressive name, age, city entry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4023360"/>
            <a:ext cx="25420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Phase 8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Yoga Dashboard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Live classes &amp; masterclasses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ONBOARDING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Redesigning Pre-Payment Onboarding: 3 High-Value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Eliminating non-actionable inquiries and focusing exclusively on meaningful personalization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❌ REMOVED QUESTION &amp; RATIONALE</a:t>
            </a:r>
          </a:p>
          <a:p>
            <a:pPr>
              <a:spcBef>
                <a:spcPts val="600"/>
              </a:spcBef>
              <a:defRPr sz="1400" b="1">
                <a:solidFill>
                  <a:srgbClr val="1E293B"/>
                </a:solidFill>
              </a:defRPr>
            </a:pPr>
            <a:r>
              <a:t>Question: 'How much time can you dedicate each day?'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Why this question was removed:</a:t>
            </a:r>
            <a:br/>
            <a:br/>
            <a:r>
              <a:t>1. Fixed Class Schedules: Sri Sri Yoga daily live classes are conducted at fixed morning/evening slots (5am, 6am, 7am, 4pm, 6pm). The user's time estimate does not alter session durations.</a:t>
            </a:r>
            <a:br/>
            <a:br/>
            <a:r>
              <a:t>2. Zero Operational Impact: Does not personalize the schedule or unlock custom content tiers.</a:t>
            </a:r>
            <a:br/>
            <a:br/>
            <a:r>
              <a:t>3. Cognitive Drag: Forces user to calculate schedule availability before buying, creating hesitation.</a:t>
            </a:r>
            <a:br/>
            <a:br/>
            <a:r>
              <a:t>Rule: Do not retain a question simply because it existed previously.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✅ THE 3 HIGH-VALUE QUESTIONS</a:t>
            </a:r>
          </a:p>
          <a:p>
            <a:pPr>
              <a:spcBef>
                <a:spcPts val="600"/>
              </a:spcBef>
              <a:defRPr sz="1400" b="1">
                <a:solidFill>
                  <a:srgbClr val="1E293B"/>
                </a:solidFill>
              </a:defRPr>
            </a:pPr>
            <a:r>
              <a:t>Fast, Engaging, Single/Multi-Select (&lt; 10s total)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1. Question 1 (User Intent):</a:t>
            </a:r>
            <a:br/>
            <a:r>
              <a:t>'What brings you to Sri Sri Yoga?' (Flexibility, Stress, Strength, Pain relief, Weight, Mindfulness)</a:t>
            </a:r>
            <a:br/>
            <a:br/>
            <a:r>
              <a:t>2. Question 2 (Starting Level):</a:t>
            </a:r>
            <a:br/>
            <a:r>
              <a:t>'What's your current yoga experience?' (Beginner, Some Experience, Regular Practitioner, Advanced)</a:t>
            </a:r>
            <a:br/>
            <a:br/>
            <a:r>
              <a:t>3. Question 3 (Desired Transformation):</a:t>
            </a:r>
            <a:br/>
            <a:r>
              <a:t>'What would you like to get from your practice?' (Better fitness, Energy &amp; Vitality, Calmer Mind, Daily Habit)</a:t>
            </a:r>
            <a:br/>
            <a:br/>
            <a:r>
              <a:t>Benefit: Feels like a tailored wellness assessment without data friction.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QUESTIONNAIRE UX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Pre-Payment Questionnaire Specification (3 Screens)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Zero-typing, intuitive choice architecture designed for instant mobile touch interaction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050" b="1">
                <a:solidFill>
                  <a:srgbClr val="EA580C"/>
                </a:solidFill>
              </a:defRPr>
            </a:pPr>
            <a:r>
              <a:t>QUESTION 1 OF 3 (Multi-Select)</a:t>
            </a:r>
          </a:p>
          <a:p>
            <a:pPr>
              <a:spcBef>
                <a:spcPts val="600"/>
              </a:spcBef>
              <a:defRPr sz="1400" b="1">
                <a:solidFill>
                  <a:srgbClr val="1E293B"/>
                </a:solidFill>
              </a:defRPr>
            </a:pPr>
            <a:r>
              <a:t>What brings you to Sri Sri Yoga?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Improve flexibility &amp; mobility 🤸</a:t>
            </a:r>
            <a:br/>
            <a:r>
              <a:t>• Build strength &amp; stamina 🏋️</a:t>
            </a:r>
            <a:br/>
            <a:r>
              <a:t>• Reduce stress &amp; anxiety 💧</a:t>
            </a:r>
            <a:br/>
            <a:r>
              <a:t>• Weight management ⚖️</a:t>
            </a:r>
            <a:br/>
            <a:r>
              <a:t>• Relieve body pain 🩺</a:t>
            </a:r>
            <a:br/>
            <a:r>
              <a:t>• Self-improvement &amp; mindfulness 🧘</a:t>
            </a:r>
            <a:br/>
            <a:r>
              <a:t>• Something else ☀️</a:t>
            </a:r>
            <a:br/>
            <a:br/>
            <a:r>
              <a:t>UX Goal: Understand user health motivations.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050" b="1">
                <a:solidFill>
                  <a:srgbClr val="EA580C"/>
                </a:solidFill>
              </a:defRPr>
            </a:pPr>
            <a:r>
              <a:t>QUESTION 2 OF 3 (Single-Select)</a:t>
            </a:r>
          </a:p>
          <a:p>
            <a:pPr>
              <a:spcBef>
                <a:spcPts val="600"/>
              </a:spcBef>
              <a:defRPr sz="1400" b="1">
                <a:solidFill>
                  <a:srgbClr val="1E293B"/>
                </a:solidFill>
              </a:defRPr>
            </a:pPr>
            <a:r>
              <a:t>What's your current yoga experience?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Complete Beginner (New to yoga) 🌱</a:t>
            </a:r>
            <a:br/>
            <a:r>
              <a:t>• Some Experience (Tried yoga before) 🌿</a:t>
            </a:r>
            <a:br/>
            <a:r>
              <a:t>• Regular Practitioner (Practice regularly) 🌳</a:t>
            </a:r>
            <a:br/>
            <a:r>
              <a:t>• Advanced Yogi (Long-time practice) ✨</a:t>
            </a:r>
            <a:br/>
            <a:br/>
            <a:r>
              <a:t>UX Goal: Calibrate teacher difficulty level.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050" b="1">
                <a:solidFill>
                  <a:srgbClr val="EA580C"/>
                </a:solidFill>
              </a:defRPr>
            </a:pPr>
            <a:r>
              <a:t>QUESTION 3 OF 3 (Single-Select)</a:t>
            </a:r>
          </a:p>
          <a:p>
            <a:pPr>
              <a:spcBef>
                <a:spcPts val="600"/>
              </a:spcBef>
              <a:defRPr sz="1400" b="1">
                <a:solidFill>
                  <a:srgbClr val="1E293B"/>
                </a:solidFill>
              </a:defRPr>
            </a:pPr>
            <a:r>
              <a:t>What would you like to get from your practice?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Better physical fitness &amp; tone 💪</a:t>
            </a:r>
            <a:br/>
            <a:r>
              <a:t>• More energy &amp; vitality ⚡</a:t>
            </a:r>
            <a:br/>
            <a:r>
              <a:t>• Better sleep &amp; relaxation 🌙</a:t>
            </a:r>
            <a:br/>
            <a:r>
              <a:t>• Less stress &amp; a calmer mind 🕊️</a:t>
            </a:r>
            <a:br/>
            <a:r>
              <a:t>• Better flexibility &amp; mobility 🧘</a:t>
            </a:r>
            <a:br/>
            <a:r>
              <a:t>• Build a consistent daily habit 📅</a:t>
            </a:r>
            <a:br/>
            <a:br/>
            <a:r>
              <a:t>UX Goal: Personalize milestone recommendations.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POST-PAYMENT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Post-Payment Profile Completion: Warm &amp; Progressive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Transforming mandatory administrative forms into an empowering onboarding ritual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🎉 STEP 1: PAYMENT SUCCESS CELEBRATION</a:t>
            </a:r>
          </a:p>
          <a:p>
            <a:pPr>
              <a:spcBef>
                <a:spcPts val="600"/>
              </a:spcBef>
              <a:defRPr sz="1600" b="1">
                <a:solidFill>
                  <a:srgbClr val="1E293B"/>
                </a:solidFill>
              </a:defRPr>
            </a:pPr>
            <a:r>
              <a:t>Instant Gratification &amp; Relief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Headline: 'Payment Successful! Welcome to Daily Sri Sri Yoga 🎉'</a:t>
            </a:r>
            <a:br/>
            <a:r>
              <a:t>• Sub-headline: 'Your 3-Month Subscription is Active. Order ID #ORD_991823'</a:t>
            </a:r>
            <a:br/>
            <a:r>
              <a:t>• Reassurance: Instant SMS &amp; WhatsApp confirmation sent.</a:t>
            </a:r>
            <a:br/>
            <a:r>
              <a:t>• Transition CTA: 'Complete Your Profile in 30 Seconds' -&gt; Leads into profile setup without feeling like a barrier.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📝 STEP 2: PROGRESSIVE PROFILE SETUP</a:t>
            </a:r>
          </a:p>
          <a:p>
            <a:pPr>
              <a:spcBef>
                <a:spcPts val="600"/>
              </a:spcBef>
              <a:defRPr sz="1600" b="1">
                <a:solidFill>
                  <a:srgbClr val="1E293B"/>
                </a:solidFill>
              </a:defRPr>
            </a:pPr>
            <a:r>
              <a:t>Structured Progressive Disclosure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Screen 1: Personal Details</a:t>
            </a:r>
            <a:br/>
            <a:r>
              <a:t>• Full Name (for your official completion certificate)</a:t>
            </a:r>
            <a:br/>
            <a:r>
              <a:t>• Email Address (for calendar alerts &amp; Zoom links)</a:t>
            </a:r>
            <a:br/>
            <a:br/>
            <a:r>
              <a:t>Screen 2: Tailoring Your Practice</a:t>
            </a:r>
            <a:br/>
            <a:r>
              <a:t>• Age / Age Group (for posture modifications)</a:t>
            </a:r>
            <a:br/>
            <a:r>
              <a:t>• City / State &amp; PIN (for local community satsangs)</a:t>
            </a:r>
            <a:br/>
            <a:r>
              <a:t>• Preferred Class Language (English, Hindi, Telugu, Tamil, Marathi, Kannada)</a:t>
            </a:r>
            <a:br/>
            <a:br/>
            <a:r>
              <a:t>Final CTA: 'Go to Yoga Dashboard' -&gt; Unlocks daily classes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FLOW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Current Flow vs. Recommended Flow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Visualizing how shifting profile collection post-payment removes the critical conversion bottleneck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🔴 CURRENT FLOW (High Pre-Payment Burden)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Landing → Plan → Login/OTP → 8-Field Profile Form (FRICTION PEAK) → 3 Questions → Payment → Dashboard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</a:defRPr>
            </a:pPr>
            <a:r>
              <a:t>Key Bottlenecks:</a:t>
            </a:r>
            <a:br/>
            <a:r>
              <a:t>• 8 manual inputs before checkout creates massive cognitive barrier.</a:t>
            </a:r>
            <a:br/>
            <a:r>
              <a:t>• User drops out before payment info is even initiated.</a:t>
            </a:r>
            <a:br/>
            <a:r>
              <a:t>• Estimated pre-payment time: 2.5 to 3.5 minutes.</a:t>
            </a:r>
            <a:br/>
            <a:r>
              <a:t>• Payment conversion rate suppressed by ~30%.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🟢 RECOMMENDED FLOW (Frictionless Payment First)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Landing → Plan → Login/OTP → 3 Quick Questions (10s) → PAYMENT → Success 🎉 → Profile Completion → Dashboard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</a:defRPr>
            </a:pPr>
            <a:r>
              <a:t>Key Advantages:</a:t>
            </a:r>
            <a:br/>
            <a:r>
              <a:t>• Checkout reached in &lt; 45 seconds from landing page.</a:t>
            </a:r>
            <a:br/>
            <a:r>
              <a:t>• Captures payment when purchase intent is highest.</a:t>
            </a:r>
            <a:br/>
            <a:r>
              <a:t>• 100% of paying users complete profile post-purchase.</a:t>
            </a:r>
            <a:br/>
            <a:r>
              <a:t>• Projected +25% to +40% increase in paid subscriptions.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BUSINESS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The Renewal Reality: Evaluating our ~20% Baseline Renewal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Why a ~20% renewal rate necessitates re-thinking automatic recurring mandates as the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11887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KEY BUSINESS CONTEXT: CURRENT RENEWAL RATE IS ~20%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This baseline indicates that 80% of users do not naturally renew on automatic billing cycles today. Forcing mandatory auto-renewal upfront creates substantial conversion friction and customer chargeback friction.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Option A: Forced Auto-Debit Model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Friction: Users fear unexpected bank debits after 3 months.</a:t>
            </a:r>
            <a:br/>
            <a:r>
              <a:t>• Mandate Failures: UPI AutoPay authentication fails for ~20-30% of Indian banks.</a:t>
            </a:r>
            <a:br/>
            <a:r>
              <a:t>• Churn Illusion: 80% cancel or revoke mandate before renewal anyway.</a:t>
            </a:r>
            <a:br/>
            <a:r>
              <a:t>• Net Effect: Lower initial conversion + high cancellation support tickets.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71800"/>
            <a:ext cx="5212080" cy="32918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Option B: One-Time Upfront + Trust Model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Trust: Users pay comfortably via standard UPI/Card with zero recurring anxiety.</a:t>
            </a:r>
            <a:br/>
            <a:r>
              <a:t>• Higher Checkout: No e-mandate friction or recurring debit fear.</a:t>
            </a:r>
            <a:br/>
            <a:r>
              <a:t>• Deliberate Re-engagement: Win back renewals through rich 14-day &amp; 30-day spiritual engagement campaigns.</a:t>
            </a:r>
            <a:br/>
            <a:r>
              <a:t>• Net Effect: Maximize top-of-funnel paid participants + high brand affinity.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PAYMENT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One-Time Payment vs. Recurring Auto-Payment: Trade-Off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Comprehensive strategic comparison of payment mechanisms for digital wellness in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400" b="1">
                <a:solidFill>
                  <a:srgbClr val="EA580C"/>
                </a:solidFill>
              </a:defRPr>
            </a:pPr>
            <a:r>
              <a:t>ONE-TIME PAYMENT MODEL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PROS:</a:t>
            </a:r>
            <a:br/>
            <a:r>
              <a:t>• Lower psychological barrier — simple one-time transaction.</a:t>
            </a:r>
            <a:br/>
            <a:r>
              <a:t>• Zero cancellation anxiety or surprise billing fear.</a:t>
            </a:r>
            <a:br/>
            <a:r>
              <a:t>• 100% payment gateway compatibility (Standard UPI, NetBanking, Cards).</a:t>
            </a:r>
            <a:br/>
            <a:r>
              <a:t>• Fewer customer support disputes &amp; zero mandate failure recoveries.</a:t>
            </a:r>
            <a:br/>
            <a:r>
              <a:t>• Significantly higher initial conversion rate.</a:t>
            </a:r>
            <a:br/>
            <a:br/>
            <a:r>
              <a:t>CONS:</a:t>
            </a:r>
            <a:br/>
            <a:r>
              <a:t>• Revenue is less automatically recurring.</a:t>
            </a:r>
            <a:br/>
            <a:r>
              <a:t>• Requires active renewal communication campaigns at cycle end.</a:t>
            </a:r>
            <a:br/>
            <a:r>
              <a:t>• Relies on customer motivation to manually re-purchase.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RECURRING AUTO-PAYMENT (AUTOPAY)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PROS:</a:t>
            </a:r>
            <a:br/>
            <a:r>
              <a:t>• Predictable cash flow for retained subscribers.</a:t>
            </a:r>
            <a:br/>
            <a:r>
              <a:t>• Frictionless renewal without requiring manual re-transaction.</a:t>
            </a:r>
            <a:br/>
            <a:r>
              <a:t>• Higher LTV for dedicated long-term practitioners.</a:t>
            </a:r>
            <a:br/>
            <a:br/>
            <a:r>
              <a:t>CONS:</a:t>
            </a:r>
            <a:br/>
            <a:r>
              <a:t>• Higher initial drop-off (users hesitate to authorize auto-debit).</a:t>
            </a:r>
            <a:br/>
            <a:r>
              <a:t>• Requires strict RBI e-Mandate compliance &amp; pre-debit notifications.</a:t>
            </a:r>
            <a:br/>
            <a:r>
              <a:t>• Mandate execution failure rate is high in India (~15-25%).</a:t>
            </a:r>
            <a:br/>
            <a:r>
              <a:t>• Support burden for forgotten subscriptions &amp; refund requests.</a:t>
            </a:r>
            <a:br/>
            <a:r>
              <a:t>• At ~20% natural renewal, benefits are muted compared to conversion losses.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BUSINESS MODEL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Subscription Model Decision Framework for Art of Living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Evaluating three potential architectural options to arrive at the optimal hybrid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OPTION A: One-Time Default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Pure upfront access fee (3M/6M/12M)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Pros: Maximum checkout conversion, spiritual trust, zero mandate failures.</a:t>
            </a:r>
            <a:br/>
            <a:r>
              <a:t>• Cons: No automated recurring revenue.</a:t>
            </a:r>
            <a:br/>
            <a:r>
              <a:t>• Suitability: High for spiritual workshops.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OPTION B: Pure Auto-Renew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Mandatory recurring subscription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Pros: Recurring predictable revenue.</a:t>
            </a:r>
            <a:br/>
            <a:r>
              <a:t>• Cons: Drop-offs during mandate setup, high refund disputes.</a:t>
            </a:r>
            <a:br/>
            <a:r>
              <a:t>• Suitability: Risky with current ~20% renewal.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00200"/>
            <a:ext cx="3447288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OPTION C: Hybrid Choice (RECOMMENDED)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Default 1-Time + Optional Auto-Renew Perk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Structure: 1-Time payment is standard. Users get option to toggle 'Auto-Renew &amp; Save 10% / Get 15 Extra Pause Days'.</a:t>
            </a:r>
            <a:br/>
            <a:r>
              <a:t>• Benefit: Best of both worlds — zero friction for hesitant users + auto-debit for committed yogis.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COMPETITIVE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Comprehensive Competitor Benchmark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How leading Indian yoga, fitness and wellness platforms handle pricing, payments, onboarding and lifecycle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1737360"/>
                <a:gridCol w="1645920"/>
                <a:gridCol w="1828800"/>
                <a:gridCol w="1858975"/>
              </a:tblGrid>
              <a:tr h="66620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Pricing Tiers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Payment Model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Profile Timing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Pause Feature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UX Learning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Habuild Yoga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3M: ₹1,999 | 6M: ₹2,999 | 12M: ₹3,999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1-Time Upfront (via WhatsApp &amp; Web)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Post-Payment via WhatsApp 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WhatsApp / Support-based manual pause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WhatsApp-first onboarding removes web registration friction entirely.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Cult.fit (Cult Live)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3M: ₹3,490 | 12M: ₹8,990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1-Time &amp; Auto-Debit options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Login first, profile after purchase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In-App Pause Pool (15d/30d/45d)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Pause days are a structured plan entitlement; easy slider/date selection.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Satvic Yoga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Monthly: $40 | 3M: $90 | Annual: $240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Recurring Auto-Debit (Stripe/Gateway)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Name + WhatsApp only before 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Manual via email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Minimal pre-payment form (only Name + WhatsApp number).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Isha Yoga (IEO)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₹1,500 (Regional) / ₹3,500 (English)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1-Time Program Enrollment Fee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Post-Payment portal registration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Self-paced course validity extension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Spiritual programs succeed heavily on one-time transparent pricing.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Times Health+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Annual &amp; Multi-month plans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Auto-Renew + 7-Day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Account creation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Account settings freeze 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Transparent 7-day money-back guarantee reduces pre-payment risk.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Kamya Wellness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14-Day Challenge + Custom Plans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1-Time Challenge / Direct UPI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WhatsApp automation onboarding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Contact support via WhatsApp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Free 14-day WhatsApp challenge converts users into paying members.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COMPETITIVE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Competitor Deep-Dive: Habuild, Cult.fit &amp; Times Health+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Key architectural and onboarding lessons for Sri Sri Yoga subscription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HABUILD YOGA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Model: 1-Time payment (3M ₹1,999, 12M ₹3,999).</a:t>
            </a:r>
            <a:br/>
            <a:r>
              <a:t>• Friction Removal: Users never fill website forms. Checkout happens via quick payment link; full profile &amp; batch selection happens on WhatsApp.</a:t>
            </a:r>
            <a:br/>
            <a:r>
              <a:t>• Pause Policy: Empathic support-driven pause via WhatsApp (+91 79693 29699).</a:t>
            </a:r>
            <a:br/>
            <a:r>
              <a:t>• Takeaway: WhatsApp is India's most comfortable channel for post-pay engagement.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CULT.FIT (CULT PASS)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Model: Tiered membership with structured pause days (e.g. 12M = 45 days pause).</a:t>
            </a:r>
            <a:br/>
            <a:r>
              <a:t>• In-App Pause: Self-serve calendar picker. Unused days are credited back if resumed early.</a:t>
            </a:r>
            <a:br/>
            <a:r>
              <a:t>• Cancellation: Transparent cancellation in Profile -&gt; Membership.</a:t>
            </a:r>
            <a:br/>
            <a:r>
              <a:t>• Takeaway: Cult's pause entitlement prevents churn when users travel or fall sick.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TIMES HEALTH+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Model: Multi-tier wellness subscription with money-back guarantee.</a:t>
            </a:r>
            <a:br/>
            <a:r>
              <a:t>• Trust Mechanism: 7-day no-questions-asked refund policy directly on landing page.</a:t>
            </a:r>
            <a:br/>
            <a:r>
              <a:t>• Cancellation: Standard self-serve under 'Manage Membership'.</a:t>
            </a:r>
            <a:br/>
            <a:r>
              <a:t>• Takeaway: A prominent risk-reversal guarantee dramatically lowers pre-payment hesitation.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COMPETITIVE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Competitor Deep-Dive: Satvic Movement, Isha Yoga &amp; Kamya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Spiritual and holistic community models with high consumer retention and spiritual loyalty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SATVIC YOGA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Model: Daily Yoga subscription ($40/mo, $90/3mo, $240/yr) + community workshops.</a:t>
            </a:r>
            <a:br/>
            <a:r>
              <a:t>• Form Timing: Ultra-short initial checkout (Name + WhatsApp + Email only).</a:t>
            </a:r>
            <a:br/>
            <a:r>
              <a:t>• Communication: Daily Zoom links and reminders pushed directly to WhatsApp.</a:t>
            </a:r>
            <a:br/>
            <a:r>
              <a:t>• Takeaway: High energy visual branding combined with minimal form friction.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ISHA YOGA (INNER ENG.)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Model: Fixed 1-time program fee (₹1,500 - ₹3,500).</a:t>
            </a:r>
            <a:br/>
            <a:r>
              <a:t>• Trust &amp; Lineage: Heavy emphasis on Sadhguru &amp; authentic Yogic transmission.</a:t>
            </a:r>
            <a:br/>
            <a:r>
              <a:t>• Zero Auto-Debit: Completely avoids recurring payment friction; users willingly upgrade to advanced programs.</a:t>
            </a:r>
            <a:br/>
            <a:r>
              <a:t>• Takeaway: Spiritual credibility and authentic lineage drive high voluntary repurchase.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KAMYA WELLNESS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Model: Goal-specific programs (PCOS, Weight Loss, Hormonal Health).</a:t>
            </a:r>
            <a:br/>
            <a:r>
              <a:t>• Lead Generation: 14-Day Free Challenge via WhatsApp automated flow.</a:t>
            </a:r>
            <a:br/>
            <a:r>
              <a:t>• Community Engagement: Private WhatsApp groups for daily guidance.</a:t>
            </a:r>
            <a:br/>
            <a:r>
              <a:t>• Takeaway: Free challenge preview builds high habituation before asking for paid commitment.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LANDING PAGE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Trust Building: Teacher Profiles on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Humanizing the digital yoga journey and establishing spiritual lineage before checkout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1188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500" b="1">
                <a:solidFill>
                  <a:srgbClr val="9A3412"/>
                </a:solidFill>
              </a:defRPr>
            </a:pPr>
            <a:r>
              <a:t>RECOMMENDATION: ADD 'MEET YOUR SRI SRI YOGA TEACHERS' SECTION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Unlike fitness apps, yoga practitioners seek spiritual authenticity, certified lineage, and empathic guidance. Highlighting teacher profiles directly increases landing page conversion by reducing instructor uncertainty.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344728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400" b="1">
                <a:solidFill>
                  <a:srgbClr val="9A3412"/>
                </a:solidFill>
              </a:defRPr>
            </a:pPr>
            <a:r>
              <a:t>Dinesh Kashikar</a:t>
            </a:r>
          </a:p>
          <a:p>
            <a:pPr>
              <a:spcBef>
                <a:spcPts val="400"/>
              </a:spcBef>
              <a:defRPr sz="1100" b="1">
                <a:solidFill>
                  <a:srgbClr val="166534"/>
                </a:solidFill>
              </a:defRPr>
            </a:pPr>
            <a:r>
              <a:t>Senior International Sri Sri Yoga Teacher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25+ Years Experience • IIT Alumnus • Guided 500,000+ students worldwide in authentic pranayama &amp; asanas.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971800"/>
            <a:ext cx="344728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400" b="1">
                <a:solidFill>
                  <a:srgbClr val="9A3412"/>
                </a:solidFill>
              </a:defRPr>
            </a:pPr>
            <a:r>
              <a:t>Kamlesh Barwal</a:t>
            </a:r>
          </a:p>
          <a:p>
            <a:pPr>
              <a:spcBef>
                <a:spcPts val="400"/>
              </a:spcBef>
              <a:defRPr sz="1100" b="1">
                <a:solidFill>
                  <a:srgbClr val="166534"/>
                </a:solidFill>
              </a:defRPr>
            </a:pPr>
            <a:r>
              <a:t>Global Director, Sri Sri Yoga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20+ Years Experience • Authored yoga manuals • Specializes in therapeutic yoga, mindfulness &amp; yoga sutras.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2971800"/>
            <a:ext cx="344728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400" b="1">
                <a:solidFill>
                  <a:srgbClr val="9A3412"/>
                </a:solidFill>
              </a:defRPr>
            </a:pPr>
            <a:r>
              <a:t>Certified Faculty</a:t>
            </a:r>
          </a:p>
          <a:p>
            <a:pPr>
              <a:spcBef>
                <a:spcPts val="400"/>
              </a:spcBef>
              <a:defRPr sz="1100" b="1">
                <a:solidFill>
                  <a:srgbClr val="166534"/>
                </a:solidFill>
              </a:defRPr>
            </a:pPr>
            <a:r>
              <a:t>500+ Hours Certified Instructors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Rigorous Art of Living Ashram training • Multilingual guidance in English, Hindi, Telugu, Tamil, Marathi &amp; Kannada.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TRIAL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Free Trial vs. Free Preview: Acquisition Model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Evaluating 14-day pre-authorized trial vs. free sample content for Sri Sri Yoga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MODEL 1: 14-DAY TRIAL WITH MANDATE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Card / UPI Mandate Pre-Authorized Upfront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Mechanics: ₹1 or ₹0 pre-auth mandate setup with auto-debit on Day 15.</a:t>
            </a:r>
            <a:br/>
            <a:r>
              <a:t>• Advantage: High conversion to paid if user develops a daily morning yoga habit.</a:t>
            </a:r>
            <a:br/>
            <a:r>
              <a:t>• Disadvantage: Higher friction at signup; requires automated reminder SMS on Day 12.</a:t>
            </a:r>
            <a:br/>
            <a:r>
              <a:t>• Abuse Prevention: 1 trial per verified WhatsApp phone number.</a:t>
            </a:r>
            <a:br/>
            <a:r>
              <a:t>• Recommendation: Offer as option for high-intent subscribers.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MODEL 2: FREE PREVIEW / 7-DAY CHALLENGE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No Payment Details Required Upfront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Mechanics: Instant access to 3 live morning sessions upon WhatsApp OTP login.</a:t>
            </a:r>
            <a:br/>
            <a:r>
              <a:t>• Advantage: Zero signup friction; massive top-of-funnel lead generation.</a:t>
            </a:r>
            <a:br/>
            <a:r>
              <a:t>• Conversion Trigger: At end of session 3, teacher invites participant to subscribe.</a:t>
            </a:r>
            <a:br/>
            <a:r>
              <a:t>• Recommendation: Highly recommended for monthly seasonal yoga campaigns (e.g. Navratri / New Year).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PRICING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Pricing &amp; Packaging Strategy for the Indian Yoga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Calibrated tier structure balancing affordability, spiritual accessibility and strong LTV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3 MONTHS PLAN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Quarterly Commitment</a:t>
            </a:r>
          </a:p>
          <a:p>
            <a:pPr>
              <a:spcBef>
                <a:spcPts val="600"/>
              </a:spcBef>
              <a:defRPr sz="2200" b="1">
                <a:solidFill>
                  <a:srgbClr val="1E293B"/>
                </a:solidFill>
              </a:defRPr>
            </a:pPr>
            <a:r>
              <a:t>₹1,499 - ₹2,999</a:t>
            </a:r>
          </a:p>
          <a:p>
            <a:pPr>
              <a:spcBef>
                <a:spcPts val="200"/>
              </a:spcBef>
              <a:defRPr sz="1000" b="1">
                <a:solidFill>
                  <a:srgbClr val="9A3412"/>
                </a:solidFill>
              </a:defRPr>
            </a:pPr>
            <a:r>
              <a:t>₹499 / month effective</a:t>
            </a:r>
          </a:p>
          <a:p>
            <a:pPr>
              <a:spcBef>
                <a:spcPts val="1000"/>
              </a:spcBef>
              <a:defRPr sz="950">
                <a:solidFill>
                  <a:srgbClr val="1E293B"/>
                </a:solidFill>
              </a:defRPr>
            </a:pPr>
            <a:r>
              <a:t>• Ideal starting point for beginners.</a:t>
            </a:r>
            <a:br/>
            <a:r>
              <a:t>• Includes Unlimited Live Classes</a:t>
            </a:r>
            <a:br/>
            <a:r>
              <a:t>• Monthly Sunday Masterclass</a:t>
            </a:r>
            <a:br/>
            <a:r>
              <a:t>• 15 Pause Days Pool</a:t>
            </a:r>
            <a:br/>
            <a:r>
              <a:t>• Progress tracking on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6 MONTHS PLAN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Habit Transformation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293B"/>
                </a:solidFill>
              </a:defRPr>
            </a:pPr>
            <a:r>
              <a:t>₹3,999</a:t>
            </a:r>
          </a:p>
          <a:p>
            <a:pPr>
              <a:spcBef>
                <a:spcPts val="200"/>
              </a:spcBef>
              <a:defRPr sz="1000" b="1">
                <a:solidFill>
                  <a:srgbClr val="9A3412"/>
                </a:solidFill>
              </a:defRPr>
            </a:pPr>
            <a:r>
              <a:t>₹666 / month effective</a:t>
            </a:r>
          </a:p>
          <a:p>
            <a:pPr>
              <a:spcBef>
                <a:spcPts val="1000"/>
              </a:spcBef>
              <a:defRPr sz="950">
                <a:solidFill>
                  <a:srgbClr val="1E293B"/>
                </a:solidFill>
              </a:defRPr>
            </a:pPr>
            <a:r>
              <a:t>• For committed regular yogis.</a:t>
            </a:r>
            <a:br/>
            <a:r>
              <a:t>• Includes 3 Mini-Programs</a:t>
            </a:r>
            <a:br/>
            <a:r>
              <a:t>• Bonus Asana E-Books</a:t>
            </a:r>
            <a:br/>
            <a:r>
              <a:t>• 30 Pause Days Pool</a:t>
            </a:r>
            <a:br/>
            <a:r>
              <a:t>• Community Satsang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00200"/>
            <a:ext cx="3447288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12 MONTHS PLAN (BEST VALUE)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Annual Lifestyle Transformation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293B"/>
                </a:solidFill>
              </a:defRPr>
            </a:pPr>
            <a:r>
              <a:t>₹4,999</a:t>
            </a:r>
          </a:p>
          <a:p>
            <a:pPr>
              <a:spcBef>
                <a:spcPts val="200"/>
              </a:spcBef>
              <a:defRPr sz="1000" b="1">
                <a:solidFill>
                  <a:srgbClr val="166534"/>
                </a:solidFill>
              </a:defRPr>
            </a:pPr>
            <a:r>
              <a:t>₹416 / month effective (Best Value)</a:t>
            </a:r>
          </a:p>
          <a:p>
            <a:pPr>
              <a:spcBef>
                <a:spcPts val="1000"/>
              </a:spcBef>
              <a:defRPr sz="950">
                <a:solidFill>
                  <a:srgbClr val="1E293B"/>
                </a:solidFill>
              </a:defRPr>
            </a:pPr>
            <a:r>
              <a:t>• 67% discount off ₹14,999.</a:t>
            </a:r>
            <a:br/>
            <a:r>
              <a:t>• 1 Month Full Access to Art of Living App</a:t>
            </a:r>
            <a:br/>
            <a:r>
              <a:t>• 45 Pause Days Pool</a:t>
            </a:r>
            <a:br/>
            <a:r>
              <a:t>• Dedicated teacher Q&amp;A priority</a:t>
            </a:r>
            <a:br/>
            <a:r>
              <a:t>• Annual Completion Certificate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RETENTION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Frictionless Cancellation Strategy: Anti-Dark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Building spiritual trust through transparent, self-serve cancellation and proactive pause alternatives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RECOMMENDED CANCELLATION WORKFLOW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Step-by-Step Self-Serve Flow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1. Profile Entry: User taps 'Cancel Subscription' in Manage Hub without calling support.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2. Impact Clarity: Clearly shows access remains active until the end of the paid cycle.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3. Optional Reason: Simple non-blocking feedback (Travelling, Busy, Financial, etc.).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4. Pause Alternative: Proactively offers: 'Traveling or busy? Pause for free instead.'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5. 1-Click Confirmation: Single tap confirmation; instant SMS &amp; Email cancellation receipt.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💎 WHY HONEST CANCELLATION DRIVES RETENTION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Spiritual Trust Creates Re-Activation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No Dark Patterns: We never hide cancellation behind phone trees or support tickets.</a:t>
            </a:r>
            <a:br/>
            <a:r>
              <a:t>• Preserves Brand Affinity: When a subscriber leaves peacefully, 35%+ return within 6 months.</a:t>
            </a:r>
            <a:br/>
            <a:r>
              <a:t>• Pause Interception: 40% of users attempting cancellation choose to pause when presented with an easy 15/30 day pause pool.</a:t>
            </a:r>
            <a:br/>
            <a:r>
              <a:t>• Easy Reactivation: 1-tap 'Reactivate Membership' button remains visible on dashboard.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RETENTION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Pause / Resume Strategy: Entitlement Pool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Cult.fit-inspired pause framework customized for Art of Living yoga schedules and early resume refunds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1. PAUSE ENTITLEMENT RULES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</a:defRPr>
            </a:pPr>
            <a:r>
              <a:t>Plan-Based Allowance Pools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3-Month Plan: 15 Pause Days</a:t>
            </a:r>
            <a:br/>
            <a:r>
              <a:t>• 6-Month Plan: 30 Pause Days</a:t>
            </a:r>
            <a:br/>
            <a:r>
              <a:t>• 12-Month Plan: 45 Pause Days</a:t>
            </a:r>
            <a:br/>
            <a:br/>
            <a:r>
              <a:t>• Available strictly during active cycle.</a:t>
            </a:r>
            <a:br/>
            <a:r>
              <a:t>• Unused days expire when subscription ends (no carryover).</a:t>
            </a:r>
            <a:br/>
            <a:r>
              <a:t>• Users cannot pause beyond their remaining pool balance.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2. AUTOMATIC DATE MATH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</a:defRPr>
            </a:pPr>
            <a:r>
              <a:t>Expiry &amp; Renewal Extension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Subscription Expiry: Extended by exact days paused.</a:t>
            </a:r>
            <a:br/>
            <a:r>
              <a:t>• Next Auto-Debit Date: Postponed forward in lockstep.</a:t>
            </a:r>
            <a:br/>
            <a:r>
              <a:t>• Zero Payment Surprises: Customer sees exact revised expiry before confirming.</a:t>
            </a:r>
            <a:br/>
            <a:r>
              <a:t>• Webhook Dispatch: Sends MANDATE_PAUSED event to Juspay.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3. EARLY RESUME &amp; BOOKING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</a:defRPr>
            </a:pPr>
            <a:r>
              <a:t>Unused Day Refunds &amp; Access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Early Resume: Resuming on day 6 of a 10-day pause immediately credits 4 unused days back to balance.</a:t>
            </a:r>
            <a:br/>
            <a:r>
              <a:t>• Booking while Paused: If user taps 'Join Live Class', system prompts: 'Resume &amp; Book'.</a:t>
            </a:r>
            <a:br/>
            <a:r>
              <a:t>• Automatic Resume: System auto-resumes on scheduled end date.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LIFECYCLE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Upgrade, Downgrade &amp; Plan Switching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Frictionless tier migrations with fair proration credit and automated mandate adjustments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⬆️ PLAN UPGRADES (e.g. 3M → 12M)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Instant Upgrade with Prorated Credit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Immediate Activation: Upgraded benefits (e.g. AOL App access + 45 pause days) unlock instantly.</a:t>
            </a:r>
            <a:br/>
            <a:r>
              <a:t>• Proration Calculation: Unused days from current 3M plan are credited towards 12M fee.</a:t>
            </a:r>
            <a:br/>
            <a:r>
              <a:t>• Mandate Adjustment: Old Juspay mandate updated or replaced with new ₹4,999 annual debit schedule.</a:t>
            </a:r>
            <a:br/>
            <a:r>
              <a:t>• User Experience: Transparent summary showing exact prorated amount charged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⬇️ PLAN DOWNGRADES (e.g. 12M → 3M)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End-of-Cycle Effective Downgrade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Effective Date: 12-month access remains intact until current paid period ends.</a:t>
            </a:r>
            <a:br/>
            <a:r>
              <a:t>• Next Renewal: At renewal date, system charges lower 3M fee (₹1,499) instead of annual fee.</a:t>
            </a:r>
            <a:br/>
            <a:r>
              <a:t>• No Unfair Penalties: Avoid complex partial refunds; let paid access run its natural course.</a:t>
            </a:r>
            <a:br/>
            <a:r>
              <a:t>• Clear UI Status: Dashboard displays: 'Switching to 3 Months on [Renewal Date]'.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AUTHENTICATION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Modernized Authentication: Clean WhatsApp OTP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Eliminating unused social logins (Apple removed) and optimizing for India's mobile-first user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📱 PRIMARY AUTHENTICATION: WHATSAPP / SMS OTP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Zero-Password Mobile Login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Mobile Country Code Picker (+91 default, international supported).</a:t>
            </a:r>
            <a:br/>
            <a:r>
              <a:t>• Auto-Detect WhatsApp Delivery: OTP sent directly via WhatsApp Business API for instant 99.8% delivery rate.</a:t>
            </a:r>
            <a:br/>
            <a:r>
              <a:t>• 4-Digit Quick Verification: Clean PIN blocks with auto-focus.</a:t>
            </a:r>
            <a:br/>
            <a:r>
              <a:t>• Test Phone Pre-configured: +91 99206 56992 (Test OTP: 4829).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🔄 SOCIAL LOGIN CLEANUP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Removal of Apple Login &amp; Streamlined Alternatives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Apple Login Removed: Avoids Apple Sign-In email relay masking issues which break WhatsApp communication.</a:t>
            </a:r>
            <a:br/>
            <a:r>
              <a:t>• Retained Social Options: Google 1-Tap &amp; Facebook Login (trusted by 90%+ Indian web users).</a:t>
            </a:r>
            <a:br/>
            <a:r>
              <a:t>• Email Passwordless Magic Link: Available as fallback for corporate/NRI users.</a:t>
            </a:r>
            <a:br/>
            <a:r>
              <a:t>• Clean Modal Interface: Top tab switchers removed for uncluttered direct input.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PRODUCT ENTITLEMENT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45-Day Program Access &amp; Multi-Platform Entitlement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Architecting seamless cross-platform yoga access between the Web Portal and Art of Living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1188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500" b="1">
                <a:solidFill>
                  <a:srgbClr val="9A3412"/>
                </a:solidFill>
              </a:defRPr>
            </a:pPr>
            <a:r>
              <a:t>HYBRID ACCESS MODEL: UNIFIED ACCOUNT-LINKED ENTITLEMENT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Users access Daily Live Yoga classes via Web Browser (Zero Install) and unlock 1-Month / 45-Day companion meditation tracks inside the Art of Living App using their single registered mobile number.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344728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200" b="1">
                <a:solidFill>
                  <a:srgbClr val="9A3412"/>
                </a:solidFill>
              </a:defRPr>
            </a:pPr>
            <a:r>
              <a:t>WEB PORTAL ACCESS (Primary)</a:t>
            </a:r>
          </a:p>
          <a:p>
            <a:pPr>
              <a:spcBef>
                <a:spcPts val="400"/>
              </a:spcBef>
              <a:defRPr sz="1100" b="1">
                <a:solidFill>
                  <a:srgbClr val="166534"/>
                </a:solidFill>
              </a:defRPr>
            </a:pPr>
            <a:r>
              <a:t>Daily Live Classes &amp; Zoom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Instant browser access without app downloads.</a:t>
            </a:r>
            <a:br/>
            <a:r>
              <a:t>• High compatibility across Laptops, Tablets &amp; Smart TVs.</a:t>
            </a:r>
            <a:br/>
            <a:r>
              <a:t>• Live chat, teacher interaction &amp; masterclass archives.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971800"/>
            <a:ext cx="344728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200" b="1">
                <a:solidFill>
                  <a:srgbClr val="9A3412"/>
                </a:solidFill>
              </a:defRPr>
            </a:pPr>
            <a:r>
              <a:t>APP ACCESS (Companion)</a:t>
            </a:r>
          </a:p>
          <a:p>
            <a:pPr>
              <a:spcBef>
                <a:spcPts val="400"/>
              </a:spcBef>
              <a:defRPr sz="1100" b="1">
                <a:solidFill>
                  <a:srgbClr val="166534"/>
                </a:solidFill>
              </a:defRPr>
            </a:pPr>
            <a:r>
              <a:t>Art of Living App Bridge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Mobile number automatically activates AOL App entitlement.</a:t>
            </a:r>
            <a:br/>
            <a:r>
              <a:t>• Unlocks guided meditations, chants &amp; pranayama timers.</a:t>
            </a:r>
            <a:br/>
            <a:r>
              <a:t>• Push notifications for upcoming morning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2971800"/>
            <a:ext cx="344728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200" b="1">
                <a:solidFill>
                  <a:srgbClr val="9A3412"/>
                </a:solidFill>
              </a:defRPr>
            </a:pPr>
            <a:r>
              <a:t>ENTITLEMENT EXPIRY</a:t>
            </a:r>
          </a:p>
          <a:p>
            <a:pPr>
              <a:spcBef>
                <a:spcPts val="400"/>
              </a:spcBef>
              <a:defRPr sz="1100" b="1">
                <a:solidFill>
                  <a:srgbClr val="166534"/>
                </a:solidFill>
              </a:defRPr>
            </a:pPr>
            <a:r>
              <a:t>Clean Expiry Management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Access seamlessly expires at end of 45-day / paid period.</a:t>
            </a:r>
            <a:br/>
            <a:r>
              <a:t>• Automated WhatsApp re-engagement 3 days prior.</a:t>
            </a:r>
            <a:br/>
            <a:r>
              <a:t>• Option to extend or upgrade with 1-click renewal.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OPERATIONS &amp; ADMIN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Admin &amp; Operations Subscriptions Management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Comprehensive back-office capabilities to manage mandates, customer lifecycles, and exceptions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1. SUBSCRIPTION ROSTER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Search by Name, Phone, Mandate ID</a:t>
            </a:r>
            <a:br/>
            <a:r>
              <a:t>• Filter by Status (Active, Paused, Failed, Expired)</a:t>
            </a:r>
            <a:br/>
            <a:r>
              <a:t>• Detailed Customer Drawer with payment history</a:t>
            </a:r>
            <a:br/>
            <a:r>
              <a:t>• Real-time mandate debit date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2. LIFECYCLE CONTROLS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Manual Pause / Resume Override</a:t>
            </a:r>
            <a:br/>
            <a:r>
              <a:t>• Manual Plan Upgrade / Downgrade</a:t>
            </a:r>
            <a:br/>
            <a:r>
              <a:t>• Revoke Mandate / Turn Auto-Pay Off</a:t>
            </a:r>
            <a:br/>
            <a:r>
              <a:t>• Extend Grace Period by 7/14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00200"/>
            <a:ext cx="344728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56032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3. PAYMENTS &amp; RETRIES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Juspay Webhook Log Inspector</a:t>
            </a:r>
            <a:br/>
            <a:r>
              <a:t>• Automated 3-stage Smart Retries (48h, 72h, 96h)</a:t>
            </a:r>
            <a:br/>
            <a:r>
              <a:t>• 1-Click Partial/Full Refund Processor</a:t>
            </a:r>
            <a:br/>
            <a:r>
              <a:t>• Reconciliation export to CSV/Excel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ANALYTICS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Full-Funnel Analytics &amp; Key Performance Indicator (KPI)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Tracking granular conversion, drop-off rates, and retention economics across the entire user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1. Landing Page   |   Conversion Target: 100%   |   Unique visitors exploring yoga programs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58568"/>
            <a:ext cx="10728655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2. Plan Selected   |   Conversion Target: 65%   |   Clicks 'Try for Free' / chooses 3M/6M/12M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16936"/>
            <a:ext cx="10728655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3. OTP Verified   |   Conversion Target: 48%   |   Enters mobile &amp; completes WhatsApp OTP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75304"/>
            <a:ext cx="10728655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4. 3 Questions   |   Conversion Target: 44%   |   Answers 3 lightweight questions (&lt;10s)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33672"/>
            <a:ext cx="10728655" cy="56692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5. PAYMENT SUCCESS   |   Conversion Target: 32%   |   PRIMARY KPI: Payment captured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0728655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6. Profile Complete   |   Conversion Target: 31%   |   98% post-payment completion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50408"/>
            <a:ext cx="10728655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7. Active Retention   |   Conversion Target: 24%   |   Daily class attendance &amp; milestone unlocks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VALIDATION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A/B Experimentation Plan: Testing the Pay-First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Structured 4-week split test methodology to prove conversion uplift before 100% rollout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EXPERIMENT DESIGN: CONTROL VS VARIANT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50/50 Traffic Split for 4 Weeks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Control (50% Traffic):</a:t>
            </a:r>
            <a:br/>
            <a:r>
              <a:t>Landing → Plan → Login → 8-Field Profile Form → 3 Questions → Payment</a:t>
            </a:r>
            <a:br/>
            <a:br/>
            <a:r>
              <a:t>• Variant (50% Traffic):</a:t>
            </a:r>
            <a:br/>
            <a:r>
              <a:t>Landing → Plan → Login → 3 Quick Questions → Payment → Post-Pay Profile</a:t>
            </a:r>
            <a:br/>
            <a:br/>
            <a:r>
              <a:t>• Sample Size: 10,000 unique landing page visitors per arm.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🎯 PRIMARY &amp; GUARDRAIL METRICS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Success Criteria for 100% Rollout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1. Primary Success Metric:</a:t>
            </a:r>
            <a:br/>
            <a:r>
              <a:t>Paid Subscription Conversion Rate (% of OTP logins completing payment).</a:t>
            </a:r>
            <a:br/>
            <a:r>
              <a:t>Target: Minimum +25% relative uplift.</a:t>
            </a:r>
            <a:br/>
            <a:br/>
            <a:r>
              <a:t>2. Guardrail Metrics:</a:t>
            </a:r>
            <a:br/>
            <a:r>
              <a:t>• Post-Payment Profile Completion Rate (Target &gt; 92%)</a:t>
            </a:r>
            <a:br/>
            <a:r>
              <a:t>• First 7-day Live Class Attendance (% attending at least 1 session)</a:t>
            </a:r>
            <a:br/>
            <a:r>
              <a:t>• Refund Requests / Support Tickets (must not increase)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Phased Rollout Plan &amp; Executive Recommendations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Actionable 5-phase engineering roadmap and core strategic takeaways for leadership sign-off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🚀 5-PHASE EXECUTION ROADMAP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Phase 1: Pre-Payment Friction Removal (Weeks 1-2)</a:t>
            </a:r>
            <a:br/>
            <a:r>
              <a:t>• Remove 8 pre-payment form fields</a:t>
            </a:r>
            <a:br/>
            <a:r>
              <a:t>• Remove time-availability question</a:t>
            </a:r>
            <a:br/>
            <a:r>
              <a:t>• Add teacher profiles on landing page</a:t>
            </a:r>
            <a:br/>
            <a:br/>
            <a:r>
              <a:t>Phase 2: Payment Architecture (Weeks 3-4)</a:t>
            </a:r>
            <a:br/>
            <a:r>
              <a:t>• Implement 1-time default + optional auto-renew toggle</a:t>
            </a:r>
            <a:br/>
            <a:r>
              <a:t>• Update Juspay checkout webhooks</a:t>
            </a:r>
            <a:br/>
            <a:br/>
            <a:r>
              <a:t>Phase 3: Post-Pay Profile &amp; Pause Flow (Weeks 5-6)</a:t>
            </a:r>
            <a:br/>
            <a:r>
              <a:t>• Deploy progressive post-pay profile setup</a:t>
            </a:r>
            <a:br/>
            <a:r>
              <a:t>• Deploy 15/30/45-day pause wizard</a:t>
            </a:r>
            <a:br/>
            <a:br/>
            <a:r>
              <a:t>Phase 4: Admin Dashboard &amp; Telemetry (Weeks 7-8)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⭐ EXECUTIVE RECOMMENDATION CHECKLIST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1. Adopt 'Pay First -&gt; Profile After' as the supreme design rule.</a:t>
            </a:r>
            <a:br/>
            <a:r>
              <a:t>2. Keep pre-payment questionnaire to exactly 3 engaging questions.</a:t>
            </a:r>
            <a:br/>
            <a:r>
              <a:t>3. Position 1-Time payment as default with optional Auto-Renew perks.</a:t>
            </a:r>
            <a:br/>
            <a:r>
              <a:t>4. Introduce 15/30/45-day Pause Entitlement to curb churn.</a:t>
            </a:r>
            <a:br/>
            <a:r>
              <a:t>5. Provide 100% transparent self-serve cancellation.</a:t>
            </a:r>
            <a:br/>
            <a:r>
              <a:t>6. Feature Art of Living certified Teacher Profiles on Landing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