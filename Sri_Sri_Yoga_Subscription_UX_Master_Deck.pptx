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7286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 tIns="54864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THE ART OF LIVING • SRI SRI YOGA</a:t>
            </a:r>
          </a:p>
          <a:p>
            <a:pPr>
              <a:spcBef>
                <a:spcPts val="1000"/>
              </a:spcBef>
              <a:defRPr sz="3200" b="1">
                <a:solidFill>
                  <a:srgbClr val="0F172A"/>
                </a:solidFill>
              </a:defRPr>
            </a:pPr>
            <a:r>
              <a:t>Subscription Journey, Payment UX &amp;</a:t>
            </a:r>
            <a:br/>
            <a:r>
              <a:t>Lifecycle Strategy</a:t>
            </a:r>
          </a:p>
          <a:p>
            <a:pPr>
              <a:spcBef>
                <a:spcPts val="800"/>
              </a:spcBef>
              <a:defRPr sz="1400">
                <a:solidFill>
                  <a:srgbClr val="64748B"/>
                </a:solidFill>
              </a:defRPr>
            </a:pPr>
            <a:r>
              <a:t>Comprehensive Research, Competitor Benchmarks, 'Pay First -&gt; Profile After' Architecture &amp; Executive Roadmap</a:t>
            </a:r>
          </a:p>
          <a:p>
            <a:pPr>
              <a:spcBef>
                <a:spcPts val="3200"/>
              </a:spcBef>
              <a:defRPr sz="1100" b="1">
                <a:solidFill>
                  <a:srgbClr val="9A3412"/>
                </a:solidFill>
              </a:defRPr>
            </a:pPr>
            <a:r>
              <a:t>Prepared for: Product, Business, Legal &amp; Leadership Teams |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EXECUTIVE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Executive Summary: Transforming Sri Sri Yoga Digital Subscriptions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Strategic recommendations to maximize checkout conversion and curb subscriber churn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560320" cy="4663440"/>
          </a:xfrm>
          <a:prstGeom prst="roundRect">
            <a:avLst/>
          </a:prstGeom>
          <a:solidFill>
            <a:srgbClr val="FFEDD5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1. Pay First Architecture</a:t>
            </a:r>
          </a:p>
          <a:p>
            <a:pPr>
              <a:spcBef>
                <a:spcPts val="1200"/>
              </a:spcBef>
              <a:defRPr sz="1050">
                <a:solidFill>
                  <a:srgbClr val="0F172A"/>
                </a:solidFill>
              </a:defRPr>
            </a:pPr>
            <a:r>
              <a:t>Shift from pre-payment registration to 'Payment First -&gt; Progressive Profile After'. Eliminates high pre-checkout drop-off.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00200"/>
            <a:ext cx="2560320" cy="466344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2. 3-Question Onboarding</a:t>
            </a:r>
          </a:p>
          <a:p>
            <a:pPr>
              <a:spcBef>
                <a:spcPts val="1200"/>
              </a:spcBef>
              <a:defRPr sz="1050">
                <a:solidFill>
                  <a:srgbClr val="0F172A"/>
                </a:solidFill>
              </a:defRPr>
            </a:pPr>
            <a:r>
              <a:t>Streamline pre-pay survey to 3 engaging questions (&lt;10s). Remove 'Time dedication' question due to fixed class timings.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00200"/>
            <a:ext cx="2560320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3. Hybrid Payment Model</a:t>
            </a:r>
          </a:p>
          <a:p>
            <a:pPr>
              <a:spcBef>
                <a:spcPts val="1200"/>
              </a:spcBef>
              <a:defRPr sz="1050">
                <a:solidFill>
                  <a:srgbClr val="0F172A"/>
                </a:solidFill>
              </a:defRPr>
            </a:pPr>
            <a:r>
              <a:t>Default to 1-Time upfront purchase (3M/6M/12M) with optional Auto-Renew perk to navigate ~20% baseline renewal rate.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00200"/>
            <a:ext cx="2560320" cy="466344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4. Lifecycle Safeguards</a:t>
            </a:r>
          </a:p>
          <a:p>
            <a:pPr>
              <a:spcBef>
                <a:spcPts val="1200"/>
              </a:spcBef>
              <a:defRPr sz="1050">
                <a:solidFill>
                  <a:srgbClr val="0F172A"/>
                </a:solidFill>
              </a:defRPr>
            </a:pPr>
            <a:r>
              <a:t>Implement structured Pause pools (15d/30d/45d) and transparent self-serve cancellation to establish high brand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The Core Business Problem: High Pre-Payment Friction Peak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Current registration form demands extensive personal data before value delivery or purchase commitment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🔴 CURRENT FRICTION-HEAVY JOURNEY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Landing Page -&gt; Select Plan -&gt; OTP Login -&gt; 4 Questions -&gt; 8-Field Registration Form (Name, Age, WhatsApp, PIN, City) -&gt; Payment Gateway</a:t>
            </a:r>
          </a:p>
          <a:p>
            <a:pPr>
              <a:spcBef>
                <a:spcPts val="1000"/>
              </a:spcBef>
              <a:defRPr sz="1000">
                <a:solidFill>
                  <a:srgbClr val="0F172A"/>
                </a:solidFill>
              </a:defRPr>
            </a:pPr>
            <a:r>
              <a:t>• Friction Peak: Asking for age, postal code and full personal details BEFORE payment creates 40-55% drop-off at peak purchase intent.</a:t>
            </a:r>
            <a:br/>
            <a:r>
              <a:t>• Psychological Barrier: Users question why an online yoga course requires postal address before payment.</a:t>
            </a:r>
            <a:br/>
            <a:r>
              <a:t>• Mobile Typing Fatigue: 8 manual text fields on mobile leads to cart abandonment.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🟢 RECOMMENDED CONVERSION-FIRST PRINCIPLE</a:t>
            </a:r>
          </a:p>
          <a:p>
            <a:pPr>
              <a:spcBef>
                <a:spcPts val="1000"/>
              </a:spcBef>
              <a:defRPr sz="1100" b="1">
                <a:solidFill>
                  <a:srgbClr val="0F172A"/>
                </a:solidFill>
              </a:defRPr>
            </a:pPr>
            <a:r>
              <a:t>Landing Page -&gt; Select Plan -&gt; OTP (Mobile/WhatsApp) -&gt; 3 Quick 1-Tap Questions -&gt; PAYMENT -&gt; Success -&gt; Progressive Profile Setup</a:t>
            </a:r>
          </a:p>
          <a:p>
            <a:pPr>
              <a:spcBef>
                <a:spcPts val="1000"/>
              </a:spcBef>
              <a:defRPr sz="1000">
                <a:solidFill>
                  <a:srgbClr val="0F172A"/>
                </a:solidFill>
              </a:defRPr>
            </a:pPr>
            <a:r>
              <a:t>• Value First: Move financial transaction forward while buyer intent is highest.</a:t>
            </a:r>
            <a:br/>
            <a:r>
              <a:t>• 100% Commitment: Once paid, users gladly complete profile details to join live batches.</a:t>
            </a:r>
            <a:br/>
            <a:r>
              <a:t>• Skip-for-now option: Allows immediate access to live yoga classes without blocking.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USER FLOW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Flow A (Recommended): Payment First Journey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Optimal flow with minimal pre-payment survey and post-payment progressive profile setup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Step 1: Landing Page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Explores benefits, schedule &amp; teacher profiles. Clicks 'Try for Free' -&gt; Smooth scrolls to pricing.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Step 2: Plan Selection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Chooses 3M / 6M / 12M membership tier with clear per-month anchoring.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00200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Step 3: Lightweight OTP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Quick 4-digit OTP via Mobile SMS or WhatsApp. Auto-populates phone number.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Step 4: 3-Question Survey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1-tap selection: Intent, Experience, and Desired Transformation. Takes &lt;10 seconds.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977639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9A3412"/>
                </a:solidFill>
              </a:defRPr>
            </a:pPr>
            <a:r>
              <a:t>Step 5: Juspay Checkout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Instant payment via UPI, Cards, NetBanking or optional AutoPay mandate.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977639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Step 6: Post-Pay Profile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Personalizes yoga batch, health notes, age &amp; city with 'Skip for now' option.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SURVEY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Pre-Payment Questionnaire: 3 High-Value, Low-Friction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Optimizing data collection: engaging the user without creating checkout drop-offs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7472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t>Question 1: User Intent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"What brings you to Sri Sri Yoga?"</a:t>
            </a:r>
          </a:p>
          <a:p>
            <a:pPr>
              <a:spcBef>
                <a:spcPts val="1000"/>
              </a:spcBef>
              <a:defRPr sz="950">
                <a:solidFill>
                  <a:srgbClr val="0F172A"/>
                </a:solidFill>
              </a:defRPr>
            </a:pPr>
            <a:r>
              <a:t>• Improve flexibility &amp; mobility</a:t>
            </a:r>
            <a:br/>
            <a:r>
              <a:t>• Build strength &amp; stamina</a:t>
            </a:r>
            <a:br/>
            <a:r>
              <a:t>• Relieve stress &amp; anxiety</a:t>
            </a:r>
            <a:br/>
            <a:r>
              <a:t>• Weight management</a:t>
            </a:r>
            <a:br/>
            <a:r>
              <a:t>• Relieve chronic body pain</a:t>
            </a:r>
            <a:br/>
            <a:r>
              <a:t>• Mindfulness &amp; meditation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7472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0284C7"/>
                </a:solidFill>
              </a:defRPr>
            </a:pPr>
            <a:r>
              <a:t>Question 2: Starting Level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"What is your yoga experience?"</a:t>
            </a:r>
          </a:p>
          <a:p>
            <a:pPr>
              <a:spcBef>
                <a:spcPts val="1000"/>
              </a:spcBef>
              <a:defRPr sz="950">
                <a:solidFill>
                  <a:srgbClr val="0F172A"/>
                </a:solidFill>
              </a:defRPr>
            </a:pPr>
            <a:r>
              <a:t>• Complete Beginner (Never practiced)</a:t>
            </a:r>
            <a:br/>
            <a:r>
              <a:t>• Some Experience (Occasional practice)</a:t>
            </a:r>
            <a:br/>
            <a:r>
              <a:t>• Regular Practitioner (1-2x per week)</a:t>
            </a:r>
            <a:br/>
            <a:r>
              <a:t>• Advanced Yogi (Daily practitioner)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00200"/>
            <a:ext cx="347472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200" b="1">
                <a:solidFill>
                  <a:srgbClr val="166534"/>
                </a:solidFill>
              </a:defRPr>
            </a:pPr>
            <a:r>
              <a:t>Question 3: Desired Goal (NEW)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</a:defRPr>
            </a:pPr>
            <a:r>
              <a:t>"What is your primary wellness goal?"</a:t>
            </a:r>
          </a:p>
          <a:p>
            <a:pPr>
              <a:spcBef>
                <a:spcPts val="1000"/>
              </a:spcBef>
              <a:defRPr sz="950">
                <a:solidFill>
                  <a:srgbClr val="0F172A"/>
                </a:solidFill>
              </a:defRPr>
            </a:pPr>
            <a:r>
              <a:t>• Establishing a daily healthy habit</a:t>
            </a:r>
            <a:br/>
            <a:r>
              <a:t>• Higher daily energy &amp; vitality</a:t>
            </a:r>
            <a:br/>
            <a:r>
              <a:t>• Better sleep quality &amp; mental calm</a:t>
            </a:r>
            <a:br/>
            <a:r>
              <a:t>• Guided posture &amp; breathing mastery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40680"/>
            <a:ext cx="10728655" cy="9144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37160"/>
          <a:lstStyle/>
          <a:p>
            <a:pPr algn="ctr">
              <a:defRPr sz="1100" b="1">
                <a:solidFill>
                  <a:srgbClr val="DC2626"/>
                </a:solidFill>
              </a:defRPr>
            </a:pPr>
            <a:r>
              <a:t>⚠️ REMOVED QUESTION: 'How much time can you dedicate to yoga each day?'</a:t>
            </a:r>
          </a:p>
          <a:p>
            <a:pPr>
              <a:spcBef>
                <a:spcPts val="200"/>
              </a:spcBef>
              <a:defRPr sz="950">
                <a:solidFill>
                  <a:srgbClr val="0F172A"/>
                </a:solidFill>
              </a:defRPr>
            </a:pPr>
            <a:r>
              <a:t>Rationale: Sri Sri Yoga sessions run on fixed live schedule slots (6:00 AM, 7:30 AM, 5:30 PM, 6:30 PM). Asking time dedication is non-actionable and creates unnecessary cognitive friction.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ALTERNATE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Flow B (Alternate): Minimal Details Collected Pre-Payment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Evaluating a flow where only basic name and WhatsApp are captured prior to payment gateway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FLOW B ARCHITECTURE: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1. Landing Page -&gt; Select Plan</a:t>
            </a:r>
            <a:br/>
            <a:r>
              <a:t>2. OTP Authentication (Mobile)</a:t>
            </a:r>
            <a:br/>
            <a:r>
              <a:t>3. 2 Quick Survey Questions</a:t>
            </a:r>
            <a:br/>
            <a:r>
              <a:t>4. Minimal Pre-Pay Form (Full Name &amp; Email only)</a:t>
            </a:r>
            <a:br/>
            <a:r>
              <a:t>5. Juspay Payment Gateway</a:t>
            </a:r>
            <a:br/>
            <a:r>
              <a:t>6. Subscription Activation</a:t>
            </a:r>
            <a:br/>
            <a:r>
              <a:t>7. Post-Payment: Remaining Health &amp; Address Profile</a:t>
            </a:r>
          </a:p>
          <a:p>
            <a:pPr>
              <a:spcBef>
                <a:spcPts val="1000"/>
              </a:spcBef>
              <a:defRPr sz="1000">
                <a:solidFill>
                  <a:srgbClr val="64748B"/>
                </a:solidFill>
              </a:defRPr>
            </a:pPr>
            <a:r>
              <a:t>• Intended Benefit: Captures lead name for abandoned cart remarketing.</a:t>
            </a:r>
            <a:br/>
            <a:r>
              <a:t>• Operational Cost: Adds 1 additional step before payment compared to Flow 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WHEN IS FLOW B VIABLE?</a:t>
            </a:r>
          </a:p>
          <a:p>
            <a:pPr>
              <a:spcBef>
                <a:spcPts val="800"/>
              </a:spcBef>
              <a:defRPr sz="1050">
                <a:solidFill>
                  <a:srgbClr val="0F172A"/>
                </a:solidFill>
              </a:defRPr>
            </a:pPr>
            <a:r>
              <a:t>• Abandoned Cart Recovery: If marketing relies heavily on WhatsApp outreach for users who drop off at checkout.</a:t>
            </a:r>
            <a:br/>
            <a:r>
              <a:t>• Tax Invoice Legalities: If instant GST invoice generation requires full legal name upfront.</a:t>
            </a:r>
            <a:br/>
            <a:r>
              <a:t>• A/B Testing Recommendation: Launch Flow A as 80% primary traffic, run Flow B as 20% challenger to validate whether pre-payment name collection reduces overall payment conversion.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COMPARATIVE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Side-by-Side Comparison: Flow A (Pay First) vs Flow B (Minimal Pre-Pay)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Direct trade-off analysis across conversion, user friction, CRM integration and legal considerations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/>
                <a:gridCol w="4114800"/>
                <a:gridCol w="4114800"/>
              </a:tblGrid>
              <a:tr h="6400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Flow A: Payment First (Recommended)</a:t>
                      </a:r>
                    </a:p>
                  </a:txBody>
                  <a:tcPr>
                    <a:solidFill>
                      <a:srgbClr val="9A34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Flow B: Minimal Details Pre-Payment</a:t>
                      </a:r>
                    </a:p>
                  </a:txBody>
                  <a:tcPr>
                    <a:solidFill>
                      <a:srgbClr val="9A341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Checkout Conversion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Highest (Estimated +25% to +40% uplift)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Moderate (+10% to +15% uplift vs current)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Pre-Payment Time to Checkout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&lt; 30 seconds total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45 - 60 seconds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Pre-Payment Friction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Minimal (OTP + 3 one-tap taps)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Medium (typing Name &amp; Email on mobile)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CRM Lead Capture for Drop-offs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Captured via Mobile OTP (Phone number captured)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Captured via Name + Phone + Email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Post-Payment Profile 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85-92% expected completion (motivated post-pay)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90-95% expected completion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F172A"/>
                          </a:solidFill>
                        </a:defRPr>
                      </a:pPr>
                      <a:r>
                        <a:t>Final Strategic Recommendation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EA580C"/>
                          </a:solidFill>
                        </a:defRPr>
                      </a:pPr>
                      <a:r>
                        <a:t>Adopt Flow A as Primary Default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0F172A"/>
                          </a:solidFill>
                        </a:defRPr>
                      </a:pPr>
                      <a:r>
                        <a:t>Reserve as A/B Testing Variant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TRANSFORMATION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Before vs After: Journey Streamlining &amp; Friction Elimination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Visual comparison of current high-friction user journey vs recommended frictionless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DC2626"/>
                </a:solidFill>
              </a:defRPr>
            </a:pPr>
            <a:r>
              <a:t>❌ CURRENT FLOW (BEFORE): 8 STEPS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1. Landing Page -&gt; 2. Select Plan -&gt; 3. OTP Login -&gt; 4. Intent Question -&gt; 5. Experience Question -&gt; 6. Time Dedication Question -&gt; 7. HEAVY 8-FIELD REGISTRATION FORM (First/Last Name, Email, WhatsApp, Age, PIN, City) -&gt; 8. Payment Gateway</a:t>
            </a:r>
          </a:p>
          <a:p>
            <a:pPr>
              <a:spcBef>
                <a:spcPts val="1200"/>
              </a:spcBef>
              <a:defRPr sz="1050" b="1">
                <a:solidFill>
                  <a:srgbClr val="DC2626"/>
                </a:solidFill>
              </a:defRPr>
            </a:pPr>
            <a:r>
              <a:t>💥 Result: Major drop-off at Step 7. User leaves before completing payment.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166534"/>
                </a:solidFill>
              </a:defRPr>
            </a:pPr>
            <a:r>
              <a:t>✅ RECOMMENDED FLOW (AFTER): 5 STEPS TO PAYMENT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1. Landing Page -&gt; 2. Select Plan -&gt; 3. Lightweight OTP -&gt; 4. 3 Quick Survey Taps (&lt;10s) -&gt; 5. JUSPAY PAYMENT GATEWAY -&gt; 6. Instant Active Subscription -&gt; 7. Progressive Profile Setup</a:t>
            </a:r>
          </a:p>
          <a:p>
            <a:pPr>
              <a:spcBef>
                <a:spcPts val="1200"/>
              </a:spcBef>
              <a:defRPr sz="1050" b="1">
                <a:solidFill>
                  <a:srgbClr val="166534"/>
                </a:solidFill>
              </a:defRPr>
            </a:pPr>
            <a:r>
              <a:t>🚀 Result: Frictionless path to payment. 100% of paying users enter the retention funnel.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PROFILE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Post-Payment Experience: 'Complete Your Profile' Screen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Framing profile collection as an empowering personalization step rather than a registration barrier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POST-PAYMENT PSYCHOLOGY &amp; UX: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Framing: 'Your Sri Sri Yoga Subscription is Active! Personalize your daily practice...'</a:t>
            </a:r>
            <a:br/>
            <a:r>
              <a:t>• Progressive Disclosure: Present fields in intuitive logical blocks (Personal Info -&gt; Practice Batch -&gt; Health Notes).</a:t>
            </a:r>
            <a:br/>
            <a:r>
              <a:t>• Trust Multiplier: Since payment is already confirmed, user views profile questions as teacher preparation rather than data harvesting.</a:t>
            </a:r>
            <a:br/>
            <a:r>
              <a:t>• Skip Option: 'Skip for now &amp; start practicing' ensures zero blockage to live Zoom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FIELDS COLLECTED POST-PAYMENT: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1. Full Name (For official Sri Sri Yoga certificate)</a:t>
            </a:r>
            <a:br/>
            <a:r>
              <a:t>2. Email Address (For calendar invites &amp; receipts)</a:t>
            </a:r>
            <a:br/>
            <a:r>
              <a:t>3. Age &amp; Gender (For customized posture variations)</a:t>
            </a:r>
            <a:br/>
            <a:r>
              <a:t>4. City &amp; State (For regional ashram events)</a:t>
            </a:r>
            <a:br/>
            <a:r>
              <a:t>5. Preferred Batch Timing (6:00 AM / 7:30 AM / 5:30 PM / 6:30 PM)</a:t>
            </a:r>
            <a:br/>
            <a:r>
              <a:t>6. Health &amp; Injury Notes (Back pain, knee issues, blood pressure - shared confidentially with certified teachers)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LANDING PAGE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Landing Page Trust: Certified Teacher Profiles ('Meet Your Faculty')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Establishing spiritual lineage, authenticity, and instructor credibility prior to purchase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WHY TEACHER PROFILES ARE ESSENTIAL: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Spiritual &amp; Pedagogical Trust: Art of Living students value direct teacher connection and certified ashram lineage.</a:t>
            </a:r>
            <a:br/>
            <a:r>
              <a:t>• Expertise Transparency: Showcasing 10+ years of teaching experience, AYUSH ministry certifications, and international ashram training builds confidence.</a:t>
            </a:r>
            <a:br/>
            <a:r>
              <a:t>• Human Connection: Converts a faceless subscription into a personalized mentorship with trusted yoga masters.</a:t>
            </a:r>
            <a:br/>
            <a:r>
              <a:t>• Reduced Purchase Anxiety: First-time yogis feel reassured that qualified teachers will guide posture alignments.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RECOMMENDED FACULTY CARD SPECIFICATION: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High-Quality Studio Photo: Warm, serene, professional portrait in traditional yoga attire.</a:t>
            </a:r>
            <a:br/>
            <a:r>
              <a:t>• Name &amp; Title: e.g., 'Swami Paramjyoti' / 'Priya Sharma, Senior Sri Sri Yoga Faculty'.</a:t>
            </a:r>
            <a:br/>
            <a:r>
              <a:t>• Ashram Lineage &amp; Experience: e.g., '14+ Years Experience | Trained at Bangalore International Ashram'.</a:t>
            </a:r>
            <a:br/>
            <a:r>
              <a:t>• Specialization Badges: Pranayama, Hatha Yoga, Sukshma Vyayama, Therapeutic Alignment.</a:t>
            </a:r>
            <a:br/>
            <a:r>
              <a:t>• Faculty Quote: A short 1-line inspiring philosophy from the teacher.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MARKET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Competitive Landscape: Benchmark of 6 Leading Indian Wellness Brands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Comparative analysis of Times Health+, Kamya Health, Isha Yoga, Satvic Movement, Cult.fit, and Habuild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00200"/>
          <a:ext cx="10728655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94560"/>
                <a:gridCol w="2011680"/>
                <a:gridCol w="2286000"/>
                <a:gridCol w="2224735"/>
              </a:tblGrid>
              <a:tr h="6400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Pricing &amp; Duration</a:t>
                      </a:r>
                    </a:p>
                  </a:txBody>
                  <a:tcPr>
                    <a:solidFill>
                      <a:srgbClr val="9A34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Payment Model</a:t>
                      </a:r>
                    </a:p>
                  </a:txBody>
                  <a:tcPr>
                    <a:solidFill>
                      <a:srgbClr val="9A34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Registration Timing</a:t>
                      </a:r>
                    </a:p>
                  </a:txBody>
                  <a:tcPr>
                    <a:solidFill>
                      <a:srgbClr val="9A34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Pause / Cancellation</a:t>
                      </a:r>
                    </a:p>
                  </a:txBody>
                  <a:tcPr>
                    <a:solidFill>
                      <a:srgbClr val="9A341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Habuild Yoga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₹1,999 / 3 Mo (WhatsApp 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1-Time Upfront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Payment first, profile on WhatsApp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WhatsApp support pause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Cult / Cult.fit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₹14,990 / yr (Cultpass)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1-Time + Auto-Debit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Account login -&gt; Pay -&gt; Profile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App pause slider (15-45 days)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Satvic Movement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$40/mo, $90/3mo, $290/yr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Auto-Renew Default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Minimal checkout form -&gt; Pay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Self-serve customer portal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Isha Yoga / Inner Eng.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₹1,500 - ₹3,500 / program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1-Time Enrollment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Enrollment fee -&gt; Portal profile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Non-refundable, transferrable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Times Health+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₹999 / mo, ₹5,999 / 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Recurring Auto-Debit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Account login -&gt; Pay -&gt; Schedule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Self-serve cancel in 1-click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172A"/>
                          </a:solidFill>
                        </a:defRPr>
                      </a:pPr>
                      <a:r>
                        <a:t>Kamya Health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₹1,499 / 21-Day Challenge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1-Time Challenge Fee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Challenge sign-up -&gt; Community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Non-refundable fixed cohort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COMPETITOR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Cult.fit Package Architecture &amp; Subscription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Analyzing Cultpass subscription tiers, pause entitlement slider, and cancellation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CULT.FIT SUBSCRIPTION MECHANICS: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Tiered Package Structure: Cultpass ELITE (All centers + At-Home), Cultpass PRO (Gyms), Cultpass HOME (Digital online classes).</a:t>
            </a:r>
            <a:br/>
            <a:r>
              <a:t>• Pause Entitlement Pool: 3-Month Plan (15 pause days), 6-Month Plan (30 pause days), 12-Month Plan (45 pause days).</a:t>
            </a:r>
            <a:br/>
            <a:r>
              <a:t>• Seamless In-App Pause: Interactive slider allows members to select start date and end date. Automatically recalculates subscription expiry date.</a:t>
            </a:r>
            <a:br/>
            <a:r>
              <a:t>• Early Unpause Credit: Resuming early refunds unused pause days back to the user's available pool immediately.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WHAT SRI SRI YOGA SHOULD ADOPT: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✅ 15d / 30d / 45d Pause Entitlement Matrix: Proven standard in Indian fitness/wellness industry.</a:t>
            </a:r>
            <a:br/>
            <a:r>
              <a:t>✅ Early Resume Refund: Prevents user frustration if travel plans change.</a:t>
            </a:r>
            <a:br/>
            <a:r>
              <a:t>✅ Clear Visual Expiry Display: Showing 'Your subscription will now expire on [New Date]' builds trust.</a:t>
            </a:r>
            <a:br/>
            <a:r>
              <a:t>❌ Avoid Cult's Heavy Transfer Fees: Keep pause and rescheduling 100% free for Sri Sri Yoga members.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COMPETITOR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Habuild Deep Dive: WhatsApp-Led Onboarding &amp;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How Habuild achieved scale via zero-friction checkout and WhatsApp daily habit 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HABUILD MODEL HIGHLIGHTS: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WhatsApp-First Ecosystem: Users sign up with only Mobile number -&gt; Instant payment -&gt; All daily Zoom links and reminders delivered via WhatsApp bot.</a:t>
            </a:r>
            <a:br/>
            <a:r>
              <a:t>• Upfront 1-Time Purchases: ₹1,999 for 3 Months or ₹3,999 for Annual pass. No forced auto-debit resistance.</a:t>
            </a:r>
            <a:br/>
            <a:r>
              <a:t>• Attendance Streak Gamification: WhatsApp bot tracks daily attendance streaks, badges, and teacher shout-outs.</a:t>
            </a:r>
            <a:br/>
            <a:r>
              <a:t>• Minimal Web UI: Zero complicated web portals; all customer interactions live where users already spend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KEY TAKEAWAYS FOR ART OF LIVING: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1. WhatsApp OTP &amp; Link Delivery: Integrate Juspay + WhatsApp notifications for instant class joining links.</a:t>
            </a:r>
            <a:br/>
            <a:r>
              <a:t>2. Daily Habit Building: Send daily morning reminders 15 minutes before chosen batch.</a:t>
            </a:r>
            <a:br/>
            <a:r>
              <a:t>3. Frictionless Upfront Pricing: Offer 1-time upfront payments to avoid mandate drop-offs among older demographics.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PAYMENT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Payment Model Trade-Offs: 1-Time Upfront vs Recurring Auto-Payment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Evaluating customer friction, mandate resistance, revenue predictability, and chargeback risks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1-TIME UPFRONT PAYMENT (3M / 6M / 12M)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✅ PROS:</a:t>
            </a:r>
            <a:br/>
            <a:r>
              <a:t>• Zero Mandate Friction: No e-mandate registration or card tokenization failures.</a:t>
            </a:r>
            <a:br/>
            <a:r>
              <a:t>• High Conversion: Indian consumers readily pay upfront for fixed-term wellness.</a:t>
            </a:r>
            <a:br/>
            <a:r>
              <a:t>• Zero Chargeback/Dispute Risk: No surprise debits or customer complaints.</a:t>
            </a:r>
            <a:br/>
            <a:r>
              <a:t>• Complete Trust: Avoids psychological fear of 'hidden recurring subscriptions'.</a:t>
            </a:r>
            <a:br/>
            <a:br/>
            <a:r>
              <a:t>❌ CONS:</a:t>
            </a:r>
            <a:br/>
            <a:r>
              <a:t>• Requires active renewal campaigns at cycle end.</a:t>
            </a:r>
            <a:br/>
            <a:r>
              <a:t>• Unpredictable revenue if reactivation cadence is weak.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RECURRING AUTO-PAYMENT (AUTOPAY / SI)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✅ PROS:</a:t>
            </a:r>
            <a:br/>
            <a:r>
              <a:t>• High Lifetime Value (LTV): Automatic renewal maximizes long-term retention.</a:t>
            </a:r>
            <a:br/>
            <a:r>
              <a:t>• Predictable Cash Flow: Consistent monthly/annual recurring revenue (ARR).</a:t>
            </a:r>
            <a:br/>
            <a:r>
              <a:t>• Reduced Operational Overhead: System handles recurring collection automatically.</a:t>
            </a:r>
            <a:br/>
            <a:br/>
            <a:r>
              <a:t>❌ CONS:</a:t>
            </a:r>
            <a:br/>
            <a:r>
              <a:t>• Mandate Drop-Off: Upfront e-mandate authentication causes 30-40% drop-off.</a:t>
            </a:r>
            <a:br/>
            <a:r>
              <a:t>• Customer Hesitation: Users resist recurring debits for habit-based products.</a:t>
            </a:r>
            <a:br/>
            <a:r>
              <a:t>• Compliance Overhead: Strict RBI 24h pre-debit alerts &amp; cancellation rules required.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RENEWAL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The ~20% Renewal Rate Reality &amp; Retention Economics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Why forced auto-debit fails when organic renewal is ~20%, and the strategic metrics we must track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📊 BUSINESS REALITY: ~20% RENEWAL BASELINE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Strategic Risk: If only ~20% of users naturally renew, forcing 100% of new users into recurring auto-debit triggers severe customer resistance, high cancellation rates, and payment gateway chargeback disputes.</a:t>
            </a:r>
            <a:br/>
            <a:r>
              <a:t>• Root Causes of Low Renewal:</a:t>
            </a:r>
            <a:br/>
            <a:r>
              <a:t>  1. Lack of daily attendance habit formation.</a:t>
            </a:r>
            <a:br/>
            <a:r>
              <a:t>  2. Absence of mid-cycle motivation or teacher check-ins.</a:t>
            </a:r>
            <a:br/>
            <a:r>
              <a:t>  3. Friction when users travel or fall sick without pause options.</a:t>
            </a:r>
            <a:br/>
            <a:r>
              <a:t>  4. Weak renewal communication (sent only on the day of expiry).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📈 MANDATORY LIFECYCLE METRICS TO TRACK: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1. Activation Rate: % of paid users attending First Live Session within 48h.</a:t>
            </a:r>
            <a:br/>
            <a:r>
              <a:t>2. WAU / Habit Index: Weekly attendance frequency (Target: &gt;= 3 sessions/wk).</a:t>
            </a:r>
            <a:br/>
            <a:r>
              <a:t>3. 30-Day &amp; 45-Day Retention: % active at end of Month 1.</a:t>
            </a:r>
            <a:br/>
            <a:r>
              <a:t>4. Pause Utilization: % using pause feature vs churn.</a:t>
            </a:r>
            <a:br/>
            <a:r>
              <a:t>5. Renewal Communication Conversion: Efficacy of T-14, T-7, and T-1 WhatsApp reminders.</a:t>
            </a:r>
            <a:br/>
            <a:r>
              <a:t>6. Reactivation Rate: % of expired members repurchasing within 60 days.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BUSINESS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Evaluating the 'No Renewal' Model (Fixed Expiry &amp; Voluntary Repurchase)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Assessing fixed-term cohort purchasing vs perpetual subscription commitments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HOW THE 'NO RENEWAL' MODEL WORKS: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Principle: User purchases a defined package (e.g., 3-Month, 6-Month, or 12-Month access). At the end of the period, access expires cleanly unless the user actively chooses to repurchase.</a:t>
            </a:r>
            <a:br/>
            <a:r>
              <a:t>• Alignment with Indian Wellness: Follows traditional ashram/course enrollment mindset (like Happiness Program or Sahaj Samadhi).</a:t>
            </a:r>
            <a:br/>
            <a:r>
              <a:t>• Zero Involuntary Churn: No failed billing attempts, grace period headaches, or card expiry issues.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RECOMMENDED HYBRID MODEL (OPTION C):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Default Setting: 1-Time Upfront Purchase (Maximizes initial checkout conversion).</a:t>
            </a:r>
            <a:br/>
            <a:r>
              <a:t>• Optional Toggle: 'Enable Auto-Renewal &amp; Save 10% / Get 15 Extra Pause Days'.</a:t>
            </a:r>
            <a:br/>
            <a:r>
              <a:t>• Result: Best of both worlds—captures high-intent recurring subscribers without repelling users who prefer fixed-term upfront payment.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PRICING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Sri Sri Yoga Pricing Architecture: 3M, 6M &amp; 12M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Balanced tier structure anchored on monthly value with built-in pause entitlements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3 Months Starter Plan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₹1,499 / 3 Months</a:t>
            </a:r>
          </a:p>
          <a:p>
            <a:pPr>
              <a:spcBef>
                <a:spcPts val="200"/>
              </a:spcBef>
              <a:defRPr sz="1000" b="1">
                <a:solidFill>
                  <a:srgbClr val="166534"/>
                </a:solidFill>
              </a:defRPr>
            </a:pPr>
            <a:r>
              <a:t>₹499 / Month equivalent</a:t>
            </a:r>
          </a:p>
          <a:p>
            <a:pPr>
              <a:spcBef>
                <a:spcPts val="1200"/>
              </a:spcBef>
              <a:defRPr sz="950">
                <a:solidFill>
                  <a:srgbClr val="0F172A"/>
                </a:solidFill>
              </a:defRPr>
            </a:pPr>
            <a:r>
              <a:t>• Live Daily Guided Yoga</a:t>
            </a:r>
            <a:br/>
            <a:r>
              <a:t>• Morning &amp; Evening Batches</a:t>
            </a:r>
            <a:br/>
            <a:r>
              <a:t>• 15 Days Pause Entitlement</a:t>
            </a:r>
            <a:br/>
            <a:r>
              <a:t>• Sri Sri Yoga Certificate</a:t>
            </a:r>
            <a:br/>
            <a:r>
              <a:t>• Web + Mobile App Access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6 Months Transformation</a:t>
            </a:r>
          </a:p>
          <a:p>
            <a:pPr>
              <a:spcBef>
                <a:spcPts val="400"/>
              </a:spcBef>
              <a:defRPr sz="1800" b="1">
                <a:solidFill>
                  <a:srgbClr val="0F172A"/>
                </a:solidFill>
              </a:defRPr>
            </a:pPr>
            <a:r>
              <a:t>₹2,699 / 6 Months</a:t>
            </a:r>
          </a:p>
          <a:p>
            <a:pPr>
              <a:spcBef>
                <a:spcPts val="200"/>
              </a:spcBef>
              <a:defRPr sz="1000" b="1">
                <a:solidFill>
                  <a:srgbClr val="166534"/>
                </a:solidFill>
              </a:defRPr>
            </a:pPr>
            <a:r>
              <a:t>₹449 / Month (Save 10%)</a:t>
            </a:r>
          </a:p>
          <a:p>
            <a:pPr>
              <a:spcBef>
                <a:spcPts val="1200"/>
              </a:spcBef>
              <a:defRPr sz="950">
                <a:solidFill>
                  <a:srgbClr val="0F172A"/>
                </a:solidFill>
              </a:defRPr>
            </a:pPr>
            <a:r>
              <a:t>• All 3-Month Plan Inclusions</a:t>
            </a:r>
            <a:br/>
            <a:r>
              <a:t>• 30 Days Pause Entitlement</a:t>
            </a:r>
            <a:br/>
            <a:r>
              <a:t>• Monthly Masterclasses</a:t>
            </a:r>
            <a:br/>
            <a:r>
              <a:t>• Posture Correction Workshops</a:t>
            </a:r>
            <a:br/>
            <a:r>
              <a:t>• Priority Teacher Q&amp;A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00200"/>
            <a:ext cx="3474720" cy="46634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12 Months Annual Yogi ⭐</a:t>
            </a:r>
          </a:p>
          <a:p>
            <a:pPr>
              <a:spcBef>
                <a:spcPts val="400"/>
              </a:spcBef>
              <a:defRPr sz="1800" b="1">
                <a:solidFill>
                  <a:srgbClr val="EA580C"/>
                </a:solidFill>
              </a:defRPr>
            </a:pPr>
            <a:r>
              <a:t>₹4,999 / Year</a:t>
            </a:r>
          </a:p>
          <a:p>
            <a:pPr>
              <a:spcBef>
                <a:spcPts val="200"/>
              </a:spcBef>
              <a:defRPr sz="1000" b="1">
                <a:solidFill>
                  <a:srgbClr val="166534"/>
                </a:solidFill>
              </a:defRPr>
            </a:pPr>
            <a:r>
              <a:t>₹416 / Month (Best Value)</a:t>
            </a:r>
          </a:p>
          <a:p>
            <a:pPr>
              <a:spcBef>
                <a:spcPts val="1200"/>
              </a:spcBef>
              <a:defRPr sz="950">
                <a:solidFill>
                  <a:srgbClr val="0F172A"/>
                </a:solidFill>
              </a:defRPr>
            </a:pPr>
            <a:r>
              <a:t>• Complete 365-Day Access</a:t>
            </a:r>
            <a:br/>
            <a:r>
              <a:t>• 45 Days Pause Entitlement</a:t>
            </a:r>
            <a:br/>
            <a:r>
              <a:t>• Unlimited Masterclass Library</a:t>
            </a:r>
            <a:br/>
            <a:r>
              <a:t>• Ayurvedic Health Consult</a:t>
            </a:r>
            <a:br/>
            <a:r>
              <a:t>• Dedicated Mentor Support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LIFECYCLE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Pause / Resume Architecture &amp; Entitlement Pool (15d / 30d / 45d)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Preventing churn during travel, illness, or festivals with self-serve pause and early resume refunds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PAUSE ENTITLEMENT RULES BY PLAN: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3-Month Plan: 15 Days Pause Pool</a:t>
            </a:r>
            <a:br/>
            <a:r>
              <a:t>• 6-Month Plan: 30 Days Pause Pool</a:t>
            </a:r>
            <a:br/>
            <a:r>
              <a:t>• 12-Month Plan: 45 Days Pause Pool</a:t>
            </a:r>
            <a:br/>
            <a:br/>
            <a:r>
              <a:t>OPERATIONAL RULES:</a:t>
            </a:r>
            <a:br/>
            <a:r>
              <a:t>1. Minimum Pause Duration: 3 consecutive days.</a:t>
            </a:r>
            <a:br/>
            <a:r>
              <a:t>2. Maximum Pauses Allowed: Up to 3 pause events per subscription cycle.</a:t>
            </a:r>
            <a:br/>
            <a:r>
              <a:t>3. Date Extension Math: New Expiry Date = Original Expiry Date + Number of Days Paused.</a:t>
            </a:r>
            <a:br/>
            <a:r>
              <a:t>4. Expiration: Unused pause days expire when subscription ends (non-transferable).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EARLY RESUME REFUND MECHANICS: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Scenario: User pauses for 10 days, but decides to resume after 4 days.</a:t>
            </a:r>
            <a:br/>
            <a:r>
              <a:t>• Immediate Recalculation:</a:t>
            </a:r>
            <a:br/>
            <a:r>
              <a:t>  - Days Consumed: 4 Days.</a:t>
            </a:r>
            <a:br/>
            <a:r>
              <a:t>  - Days Refunded to Balance: 6 Days.</a:t>
            </a:r>
            <a:br/>
            <a:r>
              <a:t>  - Subscription Extension: Adjusted by exact 4 days.</a:t>
            </a:r>
            <a:br/>
            <a:r>
              <a:t>• Class Booking Intercept: If a paused user clicks 'Join Today's Class', a friendly modal prompts: 'Resume &amp; Book Class now?'. Seamless 1-tap unpause.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CANCELLATION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Cancellation Best Practices &amp; Anti-Dark Pattern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Transparent self-serve cancellation that protects brand reputation and avoids chargeback disputes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ANTI-DARK PATTERN CANCELLATION PRINCIPLES: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Easy to Find: Accessible directly from 'Manage Subscription' in customer profile. No requirement to call customer care or send emails.</a:t>
            </a:r>
            <a:br/>
            <a:r>
              <a:t>• Transparent Offer of Pause vs Cancel: Present 'Would you prefer to pause for 15 days instead?' without blocking cancellation.</a:t>
            </a:r>
            <a:br/>
            <a:r>
              <a:t>• Retain Paid Access: User retains full class access until the end of the currently paid billing period.</a:t>
            </a:r>
            <a:br/>
            <a:r>
              <a:t>• Instant Confirmation: Display clear confirmation on screen + dispatch instant confirmation via WhatsApp and Email.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1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DARK PATTERNS TO ELIMINATE: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❌ Hidden Cancel Buttons in deep submenus.</a:t>
            </a:r>
            <a:br/>
            <a:r>
              <a:t>❌ Requiring Phone Call to Support Agent to cancel.</a:t>
            </a:r>
            <a:br/>
            <a:r>
              <a:t>❌ Immediate Access Revocation when user has already paid for remainder of cycle.</a:t>
            </a:r>
            <a:br/>
            <a:r>
              <a:t>❌ Multi-Step 'Confirm 5 times' Guilt Trips.</a:t>
            </a:r>
            <a:br/>
            <a:br/>
            <a:r>
              <a:t>Ethical cancellation builds long-term spiritual trust, leading to 3x higher voluntary reactivation.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PLAN SWITCHING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Plan Upgrade, Downgrade &amp; Tier Switching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Immediate pro-rated upgrades and cycle-end downgrades with clear financial transparency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PLAN UPGRADES (e.g., 3M -&gt; 12M ANNUAL):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Immediate Activation: Upgraded benefits (masterclasses, extra pause days) activate instantly upon confirmation.</a:t>
            </a:r>
            <a:br/>
            <a:r>
              <a:t>• Proration Credit: System calculates unused value of current plan and deducts it from the new plan charge.</a:t>
            </a:r>
            <a:br/>
            <a:r>
              <a:t>• Example Math:</a:t>
            </a:r>
            <a:br/>
            <a:r>
              <a:t>  - Current 3M Plan: ₹1,499 (45 days remaining = ₹750 credit)</a:t>
            </a:r>
            <a:br/>
            <a:r>
              <a:t>  - New 12M Plan: ₹4,999</a:t>
            </a:r>
            <a:br/>
            <a:r>
              <a:t>  - Amount Payable Today: ₹4,999 - ₹750 = ₹4,249.</a:t>
            </a:r>
            <a:br/>
            <a:r>
              <a:t>• Single Checkout: Processed in 1 click via Juspay.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PLAN DOWNGRADES (e.g., 12M -&gt; 3M):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Effective Date: Takes effect at the end of the current paid billing cycle (no mid-cycle penalty).</a:t>
            </a:r>
            <a:br/>
            <a:r>
              <a:t>• Continued Access: User retains full annual privileges until the scheduled cycle end date.</a:t>
            </a:r>
            <a:br/>
            <a:r>
              <a:t>• Mandate Adjustment: Juspay recurring mandate is automatically updated to the lower amount for next cycle.</a:t>
            </a:r>
            <a:br/>
            <a:r>
              <a:t>• Confirmation: Instant WhatsApp notification confirming scheduled downgrade date.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ACQUISITION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Free Trial Architecture: 14-Day Evaluation &amp; Abuse Prevention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Structured free trial rules: 1 trial per user, automated transition notifications, and zero lock-in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FREE TRIAL ELIGIBILITY &amp; DURATION: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Duration: 14 Days Full Access (Sufficient to experience 8-10 live yoga sessions and build a morning habit).</a:t>
            </a:r>
            <a:br/>
            <a:r>
              <a:t>• Eligibility: Strictly 1 Free Trial per unique Mobile Number and Email ID.</a:t>
            </a:r>
            <a:br/>
            <a:r>
              <a:t>• Zero Upfront Charge: ₹0 charged during trial period.</a:t>
            </a:r>
            <a:br/>
            <a:r>
              <a:t>• Mandate Registration: Optional ₹1 authorization via Juspay UPI/Card with instant refund for trial auto-conversion.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TRIAL TRANSITION CADENCE &amp; ALERTS: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Day 0: Instant welcome WhatsApp with batch timing and Zoom link.</a:t>
            </a:r>
            <a:br/>
            <a:r>
              <a:t>• Day 7 (Mid-Trial): Milestone celebration: 'You have completed 5 yoga sessions! Meet your teacher for Q&amp;A.'</a:t>
            </a:r>
            <a:br/>
            <a:r>
              <a:t>• Day 11 (T-3 Advance Alert): Mandatory WhatsApp notification: 'Your 14-day trial ends in 3 days. Your subscription will activate on [Date]. Cancel anytime for ₹0.'</a:t>
            </a:r>
            <a:br/>
            <a:r>
              <a:t>• Day 14 (Execution): Trial converts to active paid membership.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ENTITLEMENT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45-Day Companion Access &amp; Multi-Platform Entitlement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Seamless cross-platform authentication across Web and Art of Living Mobile App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45-DAY ACCESS ENTITLEMENT RESOLUTION: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Context: Certain Art of Living flagship programs include 45-day guided yoga companion access.</a:t>
            </a:r>
            <a:br/>
            <a:r>
              <a:t>• Entitlement Creation: Upon course purchase, system generates a 45-day entitlement token linked to customer's phone number.</a:t>
            </a:r>
            <a:br/>
            <a:r>
              <a:t>• Expiry Countdown Display: Customer dashboard prominently displays '45-Day Immersion Access: 32 Days Remaining'.</a:t>
            </a:r>
            <a:br/>
            <a:r>
              <a:t>• Seamless Upgrade Bridge: At Day 35 (T-10), offer an exclusive 'Loyalty Transition Offer' to convert to the Annual 12-Month plan with 20% discount.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CROSS-PLATFORM APP ENTITLEMENT (WEB + AOL APP):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Single Sign-On (SSO): Customer's verified Mobile Number unlocks:</a:t>
            </a:r>
            <a:br/>
            <a:r>
              <a:t>  1. Web Portal (Daily live Zoom join links, masterclass replays, billing).</a:t>
            </a:r>
            <a:br/>
            <a:r>
              <a:t>  2. Art of Living Mobile App (Audio meditations, offline sadhana player).</a:t>
            </a:r>
            <a:br/>
            <a:r>
              <a:t>• Cloud Sync: Attendance streak and profile data sync automatically across Web and Mobile App.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AUTHENTICATION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Authentication Cleanup: Removing Apple Login &amp; Streamlining Auth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Optimizing authentication for Indian demographics: Mobile/WhatsApp OTP &amp; Google 1-Tap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❌ REMOVED: APPLE LOGIN OPTION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Rationale for Removal:</a:t>
            </a:r>
            <a:br/>
            <a:r>
              <a:t>  1. Hidden Email Issues: Apple Private Relay generates masked @privaterelay.appleid.com emails, breaking WhatsApp class reminders and CRM record linking.</a:t>
            </a:r>
            <a:br/>
            <a:r>
              <a:t>  2. Demographics: 88%+ of target Indian yoga audience uses Android / Mobile OTP.</a:t>
            </a:r>
            <a:br/>
            <a:r>
              <a:t>  3. Friction: Removing Apple Login simplifies the auth modal to a single clean primary 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✅ RECOMMENDED PRIMARY LOGIN OPTIONS: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1. Mobile + WhatsApp OTP (Primary):</a:t>
            </a:r>
            <a:br/>
            <a:r>
              <a:t>   - User enters 10-digit number.</a:t>
            </a:r>
            <a:br/>
            <a:r>
              <a:t>   - Instant 4-digit OTP via SMS or WhatsApp.</a:t>
            </a:r>
            <a:br/>
            <a:r>
              <a:t>   - Auto-read OTP on mobile devices.</a:t>
            </a:r>
            <a:br/>
            <a:br/>
            <a:r>
              <a:t>2. Google 1-Tap (Secondary):</a:t>
            </a:r>
            <a:br/>
            <a:r>
              <a:t>   - 1-tap fast login on desktop Chrome and Android.</a:t>
            </a:r>
            <a:br/>
            <a:r>
              <a:t>   - Captures verified email address.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COMPLIANCE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Explicit User Consent &amp; Payment Authorization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Ensuring clear, unambiguous consent without deceptive pre-selected checkboxes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EXPLICIT CONSENT STANDARDS FOR CHECKOUT: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Transparent Language: Clearly display: 'By subscribing, you authorize Sri Sri Yoga to charge ₹[Amount] every [Cycle] starting on [Date] until cancelled.'</a:t>
            </a:r>
            <a:br/>
            <a:r>
              <a:t>• No Pre-Ticked Checkboxes: Consent boxes must be actively checked by user or explicitly confirmed via the CTA button.</a:t>
            </a:r>
            <a:br/>
            <a:r>
              <a:t>• Linked Policies: Clickable links to [Terms of Service], [Privacy Policy] and [Health Waiver] visible adjacent to CTA.</a:t>
            </a:r>
            <a:br/>
            <a:r>
              <a:t>• Order Summary Breakdown: Displays Initial Charge, Plan Duration, Renewal Amount, and Next Billing Date.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BEB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D97706"/>
                </a:solidFill>
              </a:defRPr>
            </a:pPr>
            <a:r>
              <a:t>SAMPLE VISUAL CONSENT COPY: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┌──────────────────────────────────────────────┐</a:t>
            </a:r>
            <a:br/>
            <a:r>
              <a:t>│ ☑️ I agree to the Terms of Service, Privacy  │</a:t>
            </a:r>
            <a:br/>
            <a:r>
              <a:t>│    Policy, and Online Yoga Health Waiver.   │</a:t>
            </a:r>
            <a:br/>
            <a:r>
              <a:t>│                                              │</a:t>
            </a:r>
            <a:br/>
            <a:r>
              <a:t>│ 🔒 100% Secure Payment via Juspay Gateway    │</a:t>
            </a:r>
            <a:br/>
            <a:r>
              <a:t>│    Cancel or Pause anytime in 1-Click       │</a:t>
            </a:r>
            <a:br/>
            <a:r>
              <a:t>└──────────────────────────────────────────────┘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CONSUMER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Refund Policy Framework &amp; Regulatory Guidelines (India)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Balancing consumer fairness, digital service non-reversibility, and payment gateway SLAs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RECOMMENDED REFUND POLICY MATRIX: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Pre-Commencement Cancellation: 100% refund if cancelled before attending the first scheduled live session.</a:t>
            </a:r>
            <a:br/>
            <a:r>
              <a:t>• Duplicate / Accidental Debit: 100% automatic refund processed in 5-7 business days via Juspay.</a:t>
            </a:r>
            <a:br/>
            <a:r>
              <a:t>• Technical Non-Delivery: Full refund if live stream fails due to platform server downtime without makeup slots.</a:t>
            </a:r>
            <a:br/>
            <a:r>
              <a:t>• Post-Commencement: Non-refundable once live classes have been attended; user is offered Pause or Family Transfer option.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DISPUTE &amp; CHARGEBACK MANAGEMENT: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24-Hour Resolution SLA: Dedicated support queue for billing issues.</a:t>
            </a:r>
            <a:br/>
            <a:r>
              <a:t>• Juspay Gateway Webhook Logging: Comprehensive audit trail of payment timestamps, mandate tokens, and delivery notifications for dispute defense.</a:t>
            </a:r>
            <a:br/>
            <a:r>
              <a:t>• Proactive Goodwill Policy: Unused subscriptions can be converted into course credits for other Art of Living programs.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Complete Subscription State Machine &amp; Lifecycle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Formal lifecycle state diagram governing customer access, billing webhooks, and retry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9A3412"/>
                </a:solidFill>
              </a:defRPr>
            </a:pPr>
            <a:r>
              <a:t>1. TRIAL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14-day free access. ₹0 charge. Full class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9A3412"/>
                </a:solidFill>
              </a:defRPr>
            </a:pPr>
            <a:r>
              <a:t>2. ACTIVE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Paid membership. Daily Zoom links &amp; dashboard active.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00200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9A3412"/>
                </a:solidFill>
              </a:defRPr>
            </a:pPr>
            <a:r>
              <a:t>3. PAUSED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Classes frozen. End date extended. Booking triggers unpause.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9A3412"/>
                </a:solidFill>
              </a:defRPr>
            </a:pPr>
            <a:r>
              <a:t>4. GRACE_PERIOD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Payment failed on renewal. 7-day retry grace. Access maintained.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977639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9A3412"/>
                </a:solidFill>
              </a:defRPr>
            </a:pPr>
            <a:r>
              <a:t>5. CANCELLED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Auto-renew stopped. Access continues until cycle end.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977639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200" b="1">
                <a:solidFill>
                  <a:srgbClr val="9A3412"/>
                </a:solidFill>
              </a:defRPr>
            </a:pPr>
            <a:r>
              <a:t>6. EXPIRED</a:t>
            </a:r>
          </a:p>
          <a:p>
            <a:pPr>
              <a:spcBef>
                <a:spcPts val="600"/>
              </a:spcBef>
              <a:defRPr sz="1000">
                <a:solidFill>
                  <a:srgbClr val="0F172A"/>
                </a:solidFill>
              </a:defRPr>
            </a:pPr>
            <a:r>
              <a:t>Subscription ended. Prompts 1-click repurchase.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OPERATIONS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Admin Operations Console &amp; Payment Traceability 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Comprehensive toolset for subscription management, renewals, retry triggers, and Juspay logs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9A3412"/>
                </a:solidFill>
              </a:defRPr>
            </a:pPr>
            <a:r>
              <a:t>ADMIN OPERATIONAL MODULES BUILT: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1. Executive KPI Dashboard: Real-time active subscribers, monthly revenue, renewal success rates, and operational alerts.</a:t>
            </a:r>
            <a:br/>
            <a:r>
              <a:t>2. Subscriptions Management: Search by phone/name, filter by tier, view pause history, and trigger manual actions.</a:t>
            </a:r>
            <a:br/>
            <a:r>
              <a:t>3. Renewals &amp; Failed Retries: Track dunning grace periods and trigger manual retry webhooks.</a:t>
            </a:r>
            <a:br/>
            <a:r>
              <a:t>4. Course &amp; Plan Management: Configure batch slots, prices, and pause pools.</a:t>
            </a:r>
            <a:br/>
            <a:r>
              <a:t>5. Communications Center: Preview automated WhatsApp templates.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0F9FF"/>
          </a:solidFill>
          <a:ln w="1524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PAYMENTS &amp; MANDATES TRACEABILITY LEDGER:</a:t>
            </a:r>
          </a:p>
          <a:p>
            <a:pPr>
              <a:spcBef>
                <a:spcPts val="800"/>
              </a:spcBef>
              <a:defRPr sz="950">
                <a:solidFill>
                  <a:srgbClr val="0F172A"/>
                </a:solidFill>
              </a:defRPr>
            </a:pPr>
            <a:r>
              <a:t>• End-to-End Audit Trail: Customer ➔ Subscription ➔ Upgrade Event ➔ Payment ➔ Mandate Token.</a:t>
            </a:r>
            <a:br/>
            <a:r>
              <a:t>• Advanced Filter Drawer: Filter by Course Plan, Payment Method (UPI / Card / NetBanking), Status (Paid / Failed), and Transaction Type (Initial / Renewal / Upgrade).</a:t>
            </a:r>
            <a:br/>
            <a:r>
              <a:t>• Real-Time Webhook Logs: Inspect Juspay webhook payloads and signature verification status.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PRODUCT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Subscription System Requirements Specification (PRD)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Summary of functional requirements across User Experience, Admin Console, and Backend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User Capabilities</a:t>
            </a:r>
          </a:p>
          <a:p>
            <a:pPr>
              <a:spcBef>
                <a:spcPts val="1000"/>
              </a:spcBef>
              <a:defRPr sz="1000">
                <a:solidFill>
                  <a:srgbClr val="0F172A"/>
                </a:solidFill>
              </a:defRPr>
            </a:pPr>
            <a:r>
              <a:t>• Mobile/WhatsApp OTP login</a:t>
            </a:r>
            <a:br/>
            <a:r>
              <a:t>• 3-tap pre-pay questionnaire</a:t>
            </a:r>
            <a:br/>
            <a:r>
              <a:t>• 1-click Juspay checkout</a:t>
            </a:r>
            <a:br/>
            <a:r>
              <a:t>• Post-pay progressive profile</a:t>
            </a:r>
            <a:br/>
            <a:r>
              <a:t>• Self-serve pause &amp; resume</a:t>
            </a:r>
            <a:br/>
            <a:r>
              <a:t>• 1-click plan upgrade</a:t>
            </a:r>
            <a:br/>
            <a:r>
              <a:t>• Transparent cancellation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0284C7"/>
                </a:solidFill>
              </a:defRPr>
            </a:pPr>
            <a:r>
              <a:t>Admin Capabilities</a:t>
            </a:r>
          </a:p>
          <a:p>
            <a:pPr>
              <a:spcBef>
                <a:spcPts val="1000"/>
              </a:spcBef>
              <a:defRPr sz="1000">
                <a:solidFill>
                  <a:srgbClr val="0F172A"/>
                </a:solidFill>
              </a:defRPr>
            </a:pPr>
            <a:r>
              <a:t>• Executive operational KPIs</a:t>
            </a:r>
            <a:br/>
            <a:r>
              <a:t>• Subscriber search &amp; drawers</a:t>
            </a:r>
            <a:br/>
            <a:r>
              <a:t>• Payment ledger traceability</a:t>
            </a:r>
            <a:br/>
            <a:r>
              <a:t>• Failed renewal retry triggers</a:t>
            </a:r>
            <a:br/>
            <a:r>
              <a:t>• Manual pause overrides</a:t>
            </a:r>
            <a:br/>
            <a:r>
              <a:t>• Refund processing hooks</a:t>
            </a:r>
            <a:br/>
            <a:r>
              <a:t>• Course batch scheduler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00200"/>
            <a:ext cx="34747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System Capabilities</a:t>
            </a:r>
          </a:p>
          <a:p>
            <a:pPr>
              <a:spcBef>
                <a:spcPts val="1000"/>
              </a:spcBef>
              <a:defRPr sz="1000">
                <a:solidFill>
                  <a:srgbClr val="0F172A"/>
                </a:solidFill>
              </a:defRPr>
            </a:pPr>
            <a:r>
              <a:t>• Juspay webhook handlers</a:t>
            </a:r>
            <a:br/>
            <a:r>
              <a:t>• RBI pre-debit notifications</a:t>
            </a:r>
            <a:br/>
            <a:r>
              <a:t>• Dynamic date extension math</a:t>
            </a:r>
            <a:br/>
            <a:r>
              <a:t>• Dunning retry cadence</a:t>
            </a:r>
            <a:br/>
            <a:r>
              <a:t>• WhatsApp reminder bot</a:t>
            </a:r>
            <a:br/>
            <a:r>
              <a:t>• DPDP Act data encryption</a:t>
            </a:r>
            <a:br/>
            <a:r>
              <a:t>• SSO entitlement sync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5-Phase Rollout Roadmap &amp; Implementation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Structured deployment plan from MVP launch to advanced AI habit coaching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150" b="1">
                <a:solidFill>
                  <a:srgbClr val="9A3412"/>
                </a:solidFill>
              </a:defRPr>
            </a:pPr>
            <a:r>
              <a:t>Phase 1: MVP Core (W1-4)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'Pay First -&gt; Profile After' flow</a:t>
            </a:r>
            <a:br/>
            <a:r>
              <a:t>• 3-question survey</a:t>
            </a:r>
            <a:br/>
            <a:r>
              <a:t>• Juspay 1-Time payment</a:t>
            </a:r>
            <a:br/>
            <a:r>
              <a:t>• Basic post-pay profile setup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00200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Phase 2: Lifecycle (W5-8)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Pause / Resume entitlement (15/30/45d)</a:t>
            </a:r>
            <a:br/>
            <a:r>
              <a:t>• Self-serve cancellation</a:t>
            </a:r>
            <a:br/>
            <a:r>
              <a:t>• Admin payments ledger &amp; drawers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600200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Phase 3: Hybrid (W9-12)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Optional AutoPay mandate toggle</a:t>
            </a:r>
            <a:br/>
            <a:r>
              <a:t>• RBI pre-debit notifications</a:t>
            </a:r>
            <a:br/>
            <a:r>
              <a:t>• Upgrades &amp; proration credit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Phase 4: Optimization (W13-16)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50/50 A/B checkout split testing</a:t>
            </a:r>
            <a:br/>
            <a:r>
              <a:t>• WhatsApp attendance bot</a:t>
            </a:r>
            <a:br/>
            <a:r>
              <a:t>• Dunning recovery automation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977639"/>
            <a:ext cx="347472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/>
          <a:lstStyle/>
          <a:p>
            <a:pPr algn="ctr">
              <a:defRPr sz="1150" b="1">
                <a:solidFill>
                  <a:srgbClr val="0F172A"/>
                </a:solidFill>
              </a:defRPr>
            </a:pPr>
            <a:r>
              <a:t>Phase 5: Scale (W17+)</a:t>
            </a:r>
          </a:p>
          <a:p>
            <a:pPr>
              <a:spcBef>
                <a:spcPts val="600"/>
              </a:spcBef>
              <a:defRPr sz="950">
                <a:solidFill>
                  <a:srgbClr val="64748B"/>
                </a:solidFill>
              </a:defRPr>
            </a:pPr>
            <a:r>
              <a:t>• Multi-course companion bundles</a:t>
            </a:r>
            <a:br/>
            <a:r>
              <a:t>• Ashram loyalty rewards</a:t>
            </a:r>
            <a:br/>
            <a:r>
              <a:t>• AI personalized posture tips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TESTING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A/B Testing Protocol: Validating Conversion Uplift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Controlled 50/50 split test to prove the conversion superiority of the 'Pay First'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DC2626"/>
                </a:solidFill>
              </a:defRPr>
            </a:pPr>
            <a:r>
              <a:t>CONTROL (50% Traffic) - BASELINE FLOW: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Landing -&gt; Plan -&gt; OTP -&gt; 4 Questions -&gt; 8-Field Registration Form -&gt; Payment</a:t>
            </a:r>
            <a:br/>
            <a:r>
              <a:t>• Hypothesis: High drop-off at registration form prior to payment.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300" b="1">
                <a:solidFill>
                  <a:srgbClr val="166534"/>
                </a:solidFill>
              </a:defRPr>
            </a:pPr>
            <a:r>
              <a:t>VARIANT (50% Traffic) - PAY FIRST FLOW:</a:t>
            </a:r>
          </a:p>
          <a:p>
            <a:pPr>
              <a:spcBef>
                <a:spcPts val="800"/>
              </a:spcBef>
              <a:defRPr sz="1000">
                <a:solidFill>
                  <a:srgbClr val="0F172A"/>
                </a:solidFill>
              </a:defRPr>
            </a:pPr>
            <a:r>
              <a:t>• Landing -&gt; Plan -&gt; OTP -&gt; 3 Questions -&gt; PAYMENT -&gt; Post-Pay Profile</a:t>
            </a:r>
            <a:br/>
            <a:r>
              <a:t>• Expected Uplift: +25% to +40% increase in completed paid transactions.</a:t>
            </a:r>
            <a:br/>
            <a:r>
              <a:t>• Target Significance: 95% statistical confidence over 4-week test.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EA580C"/>
                </a:solidFill>
              </a:defRPr>
            </a:pPr>
            <a:r>
              <a:t>EXECUTIVE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Executive Recommendations: Answering the 10 Core Strategic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70432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4748B"/>
                </a:solidFill>
              </a:defRPr>
            </a:pPr>
            <a:r>
              <a:t>Clear, actionable leadership answers backed by UX research and competitive benchmarks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9A3412"/>
                </a:solidFill>
              </a:defRPr>
            </a:pPr>
            <a:r>
              <a:t>CORE PRODUCT &amp; PAYMENT DECISIONS: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1. Move to Pay-First? YES. Supreme design rule to maximize conversion.</a:t>
            </a:r>
            <a:br/>
            <a:r>
              <a:t>2. Pre-Payment Info? Mobile OTP + 3 quick one-tap survey questions only.</a:t>
            </a:r>
            <a:br/>
            <a:r>
              <a:t>3. Post-Payment Info? Full Name, Email, Age, City, Batch, and Health notes.</a:t>
            </a:r>
            <a:br/>
            <a:r>
              <a:t>4. 1-Time vs Recurring? Default to 1-Time Upfront; offer AutoPay as optional toggle.</a:t>
            </a:r>
            <a:br/>
            <a:r>
              <a:t>5. ~20% Renewal Strategy? Implement habit metrics and automated WhatsApp cadence.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00200"/>
            <a:ext cx="5212080" cy="4663440"/>
          </a:xfrm>
          <a:prstGeom prst="roundRect">
            <a:avLst/>
          </a:prstGeom>
          <a:solidFill>
            <a:srgbClr val="FFF7ED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274320"/>
          <a:lstStyle/>
          <a:p>
            <a:pPr algn="ctr">
              <a:defRPr sz="1200" b="1">
                <a:solidFill>
                  <a:srgbClr val="9A3412"/>
                </a:solidFill>
              </a:defRPr>
            </a:pPr>
            <a:r>
              <a:t>LIFECYCLE &amp; OPERATIONAL DECISIONS:</a:t>
            </a:r>
          </a:p>
          <a:p>
            <a:pPr>
              <a:spcBef>
                <a:spcPts val="600"/>
              </a:spcBef>
              <a:defRPr sz="950">
                <a:solidFill>
                  <a:srgbClr val="0F172A"/>
                </a:solidFill>
              </a:defRPr>
            </a:pPr>
            <a:r>
              <a:t>6. Offer Pause/Resume? YES. 15d (3M), 30d (6M), 45d (12M) with early resume refunds.</a:t>
            </a:r>
            <a:br/>
            <a:r>
              <a:t>7. Cancellation UX? Transparent 1-click self-serve cancellation (anti-dark patterns).</a:t>
            </a:r>
            <a:br/>
            <a:r>
              <a:t>8. Pricing Architecture? ₹1,499 (3M), ₹2,699 (6M), ₹4,999 (12M Annual Best Value).</a:t>
            </a:r>
            <a:br/>
            <a:r>
              <a:t>9. 45-Day Access? Cloud entitlement token with day countdown and upgrade bridge.</a:t>
            </a:r>
            <a:br/>
            <a:r>
              <a:t>10. MVP Launch Plan? Phase 1 Pay-First MVP launch within 4 weeks.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0728655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548640"/>
          <a:lstStyle/>
          <a:p>
            <a:pPr algn="ctr">
              <a:defRPr sz="1300" b="1">
                <a:solidFill>
                  <a:srgbClr val="EA580C"/>
                </a:solidFill>
              </a:defRPr>
            </a:pPr>
            <a:r>
              <a:t>THE ART OF LIVING • SRI SRI YOGA</a:t>
            </a:r>
          </a:p>
          <a:p>
            <a:pPr>
              <a:spcBef>
                <a:spcPts val="1000"/>
              </a:spcBef>
              <a:defRPr sz="2800" b="1">
                <a:solidFill>
                  <a:srgbClr val="0F172A"/>
                </a:solidFill>
              </a:defRPr>
            </a:pPr>
            <a:r>
              <a:t>Ready for Stakeholder Approval &amp; Production Build</a:t>
            </a:r>
          </a:p>
          <a:p>
            <a:pPr>
              <a:spcBef>
                <a:spcPts val="1200"/>
              </a:spcBef>
              <a:defRPr sz="1200">
                <a:solidFill>
                  <a:srgbClr val="64748B"/>
                </a:solidFill>
              </a:defRPr>
            </a:pPr>
            <a:r>
              <a:t>• Working prototype is live and fully interactive on local staging server.</a:t>
            </a:r>
            <a:br/>
            <a:r>
              <a:t>• All customer flows (Payment First, Survey, Pause, Unpause, Manage Hub) tested and verified.</a:t>
            </a:r>
            <a:br/>
            <a:r>
              <a:t>• Ready to proceed with Juspay production merchant keys and CRM API integration.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