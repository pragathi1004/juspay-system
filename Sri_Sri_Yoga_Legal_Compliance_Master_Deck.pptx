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1005840"/>
            <a:ext cx="10728655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0" tIns="548640"/>
          <a:lstStyle/>
          <a:p>
            <a:pPr algn="ctr">
              <a:defRPr sz="1300" b="1">
                <a:solidFill>
                  <a:srgbClr val="9A3412"/>
                </a:solidFill>
              </a:defRPr>
            </a:pPr>
            <a:r>
              <a:t>THE ART OF LIVING • SRI SRI YOGA</a:t>
            </a:r>
          </a:p>
          <a:p>
            <a:pPr>
              <a:spcBef>
                <a:spcPts val="1200"/>
              </a:spcBef>
              <a:defRPr sz="3200" b="1">
                <a:solidFill>
                  <a:srgbClr val="0F172A"/>
                </a:solidFill>
              </a:defRPr>
            </a:pPr>
            <a:r>
              <a:t>Legal, Regulatory &amp; Compliance Framework</a:t>
            </a:r>
          </a:p>
          <a:p>
            <a:pPr>
              <a:spcBef>
                <a:spcPts val="800"/>
              </a:spcBef>
              <a:defRPr sz="1400">
                <a:solidFill>
                  <a:srgbClr val="64748B"/>
                </a:solidFill>
              </a:defRPr>
            </a:pPr>
            <a:r>
              <a:t>RBI e-Mandate Guidelines, Explicit Consent, DPDP Act 2023, Refund Policies &amp; Consumer Safeguards</a:t>
            </a:r>
          </a:p>
          <a:p>
            <a:pPr>
              <a:spcBef>
                <a:spcPts val="3200"/>
              </a:spcBef>
              <a:defRPr sz="1100" b="1">
                <a:solidFill>
                  <a:srgbClr val="166534"/>
                </a:solidFill>
              </a:defRPr>
            </a:pPr>
            <a:r>
              <a:t>Prepared for: Legal Counsel &amp; Risk Compliance Teams | September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9A3412"/>
                </a:solidFill>
              </a:defRPr>
            </a:pPr>
            <a:r>
              <a:t>RBI REGULATIONS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F172A"/>
                </a:solidFill>
              </a:defRPr>
            </a:pPr>
            <a:r>
              <a:t>RBI e-Mandate Framework &amp; Pre-Debit Notification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70432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64748B"/>
                </a:solidFill>
              </a:defRPr>
            </a:pPr>
            <a:r>
              <a:t>Statutory compliance requirements for recurring payments under Reserve Bank of India circulars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10728655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rIns="320040" tIns="320040"/>
          <a:lstStyle/>
          <a:p>
            <a:pPr algn="ctr">
              <a:defRPr sz="1300" b="1">
                <a:solidFill>
                  <a:srgbClr val="9A3412"/>
                </a:solidFill>
              </a:defRPr>
            </a:pPr>
            <a:r>
              <a:t>MANDATORY RBI COMPLIANCE PROVISIONS (AFA &amp; e-MANDATE):</a:t>
            </a:r>
          </a:p>
          <a:p>
            <a:pPr>
              <a:spcBef>
                <a:spcPts val="1200"/>
              </a:spcBef>
              <a:defRPr sz="1100">
                <a:solidFill>
                  <a:srgbClr val="0F172A"/>
                </a:solidFill>
              </a:defRPr>
            </a:pPr>
            <a:r>
              <a:t>1. Additional Factor of Authentication (AFA): The initial recurring mandate registration must be authenticated via AFA (OTP / UPI PIN).</a:t>
            </a:r>
            <a:br/>
            <a:br/>
            <a:r>
              <a:t>2. Mandatory Pre-Debit Notifications: A pre-debit notification via SMS/Email must be delivered to the customer at least 24 to 48 hours before the actual auto-renewal debit occurs.</a:t>
            </a:r>
            <a:br/>
            <a:br/>
            <a:r>
              <a:t>3. Opt-Out &amp; Unlink Facility: Customers must have an explicit option to pause or revoke the mandate without requiring customer support intervention.</a:t>
            </a:r>
            <a:br/>
            <a:br/>
            <a:r>
              <a:t>4. Transaction Limits: Transactions up to ₹15,000 per cycle do not require recurring OTP if valid e-mandate exists.</a:t>
            </a:r>
            <a:br/>
            <a:br/>
            <a:r>
              <a:t>5. Juspay Role: Juspay handles tokenization, webhook dispatches and pre-debit notification triggering.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9A3412"/>
                </a:solidFill>
              </a:defRPr>
            </a:pPr>
            <a:r>
              <a:t>USER CONSENT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F172A"/>
                </a:solidFill>
              </a:defRPr>
            </a:pPr>
            <a:r>
              <a:t>Explicit User Consent &amp; Payment Authorization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70432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64748B"/>
                </a:solidFill>
              </a:defRPr>
            </a:pPr>
            <a:r>
              <a:t>Ensuring clear, unambiguous consent without deceptive pre-selected checkboxes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10728655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rIns="320040" tIns="320040"/>
          <a:lstStyle/>
          <a:p>
            <a:pPr algn="ctr">
              <a:defRPr sz="1300" b="1">
                <a:solidFill>
                  <a:srgbClr val="9A3412"/>
                </a:solidFill>
              </a:defRPr>
            </a:pPr>
            <a:r>
              <a:t>EXPLICIT CONSENT STANDARDS FOR RECURRING BILLING:</a:t>
            </a:r>
          </a:p>
          <a:p>
            <a:pPr>
              <a:spcBef>
                <a:spcPts val="1200"/>
              </a:spcBef>
              <a:defRPr sz="1100">
                <a:solidFill>
                  <a:srgbClr val="0F172A"/>
                </a:solidFill>
              </a:defRPr>
            </a:pPr>
            <a:r>
              <a:t>• Transparent Language: Clearly display: 'By subscribing, you authorize Sri Sri Yoga to charge ₹[Amount] every [Cycle] starting on [Date] until cancelled.'</a:t>
            </a:r>
            <a:br/>
            <a:r>
              <a:t>• No Pre-Ticked Checkboxes: Consent boxes must be actively checked by user or explicitly confirmed via the CTA button.</a:t>
            </a:r>
            <a:br/>
            <a:r>
              <a:t>• Clear Distinction: If recurring payment is optional, the toggle between '1-Time Purchase' and 'Auto-Renew &amp; Save' must be distinct.</a:t>
            </a:r>
            <a:br/>
            <a:r>
              <a:t>• Linked Policies: Clickable links to [Terms of Service] and [Privacy Policy] must be visible adjacent to the checkout button.</a:t>
            </a:r>
            <a:br/>
            <a:r>
              <a:t>• Order Summary Display: Breakdown showing Initial Charge, Trial Duration, Renewal Amount, and Next Billing Date.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9A3412"/>
                </a:solidFill>
              </a:defRPr>
            </a:pPr>
            <a:r>
              <a:t>TERMS &amp; PRIVACY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F172A"/>
                </a:solidFill>
              </a:defRPr>
            </a:pPr>
            <a:r>
              <a:t>Terms of Service &amp; Online Yoga Health Waiver Framework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70432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64748B"/>
                </a:solidFill>
              </a:defRPr>
            </a:pPr>
            <a:r>
              <a:t>Key clauses governing online yoga instruction, health waivers, and personal data protection (DPDP Act)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10728655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rIns="320040" tIns="320040"/>
          <a:lstStyle/>
          <a:p>
            <a:pPr algn="ctr">
              <a:defRPr sz="1300" b="1">
                <a:solidFill>
                  <a:srgbClr val="9A3412"/>
                </a:solidFill>
              </a:defRPr>
            </a:pPr>
            <a:r>
              <a:t>KEY CLAUSES FOR ONLINE YOGA SUBSCRIBER TERMS:</a:t>
            </a:r>
          </a:p>
          <a:p>
            <a:pPr>
              <a:spcBef>
                <a:spcPts val="1200"/>
              </a:spcBef>
              <a:defRPr sz="1100">
                <a:solidFill>
                  <a:srgbClr val="0F172A"/>
                </a:solidFill>
              </a:defRPr>
            </a:pPr>
            <a:r>
              <a:t>1. Health &amp; Physical Activity Waiver: Explicit acknowledgment that participant is in suitable physical health for asanas and assumes responsibility for personal injury.</a:t>
            </a:r>
            <a:br/>
            <a:br/>
            <a:r>
              <a:t>2. Intellectual Property &amp; Recording: Prohibition against recording, rebroadcasting or redistributing live stream sessions.</a:t>
            </a:r>
            <a:br/>
            <a:br/>
            <a:r>
              <a:t>3. Dynamic Schedule Alteration: Art of Living reserves right to substitute certified teachers or adjust session schedules with prior notice.</a:t>
            </a:r>
            <a:br/>
            <a:br/>
            <a:r>
              <a:t>4. Digital Personal Data Protection (DPDP Act 2023): Personal data (phone, email, health notes) stored securely with AES-256 encryption and processed solely for yoga delivery.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9A3412"/>
                </a:solidFill>
              </a:defRPr>
            </a:pPr>
            <a:r>
              <a:t>CANCELLATION RIGHTS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F172A"/>
                </a:solidFill>
              </a:defRPr>
            </a:pPr>
            <a:r>
              <a:t>Statutory Cancellation &amp; Mandate Revocation Rights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70432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64748B"/>
                </a:solidFill>
              </a:defRPr>
            </a:pPr>
            <a:r>
              <a:t>Ensuring frictionless self-serve cancellation in full compliance with Consumer Protection Rules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10728655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rIns="320040" tIns="320040"/>
          <a:lstStyle/>
          <a:p>
            <a:pPr algn="ctr">
              <a:defRPr sz="1300" b="1">
                <a:solidFill>
                  <a:srgbClr val="9A3412"/>
                </a:solidFill>
              </a:defRPr>
            </a:pPr>
            <a:r>
              <a:t>MANDATORY CANCELLATION &amp; REVOCATION PROVISIONS:</a:t>
            </a:r>
          </a:p>
          <a:p>
            <a:pPr>
              <a:spcBef>
                <a:spcPts val="1200"/>
              </a:spcBef>
              <a:defRPr sz="1100">
                <a:solidFill>
                  <a:srgbClr val="0F172A"/>
                </a:solidFill>
              </a:defRPr>
            </a:pPr>
            <a:r>
              <a:t>• Self-Serve Accessibility: Customers must be able to cancel auto-renewal in &lt;= 3 clicks within the web portal without human agent intervention.</a:t>
            </a:r>
            <a:br/>
            <a:r>
              <a:t>• Revocation Webhook: Cancellation triggers instant mandate revocation API call to Juspay and NPCI.</a:t>
            </a:r>
            <a:br/>
            <a:r>
              <a:t>• Continuation of Paid Validity: Paid access continues undisturbed until the end of the paid period.</a:t>
            </a:r>
            <a:br/>
            <a:r>
              <a:t>• Written Confirmation: Instant dispatch of cancellation confirmation with effective date via Email and WhatsApp.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9A3412"/>
                </a:solidFill>
              </a:defRPr>
            </a:pPr>
            <a:r>
              <a:t>REFUND POLICY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F172A"/>
                </a:solidFill>
              </a:defRPr>
            </a:pPr>
            <a:r>
              <a:t>Comprehensive Refund Policy Framework (Indian Wellness)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70432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64748B"/>
                </a:solidFill>
              </a:defRPr>
            </a:pPr>
            <a:r>
              <a:t>Balancing consumer fairness, digital service non-reversibility, and payment gateway SLAs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10728655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rIns="320040" tIns="320040"/>
          <a:lstStyle/>
          <a:p>
            <a:pPr algn="ctr">
              <a:defRPr sz="1300" b="1">
                <a:solidFill>
                  <a:srgbClr val="9A3412"/>
                </a:solidFill>
              </a:defRPr>
            </a:pPr>
            <a:r>
              <a:t>RECOMMENDED REFUND POLICY MATRIX (SUBJECT TO LEGAL SIGN-OFF):</a:t>
            </a:r>
          </a:p>
          <a:p>
            <a:pPr>
              <a:spcBef>
                <a:spcPts val="1200"/>
              </a:spcBef>
              <a:defRPr sz="1100">
                <a:solidFill>
                  <a:srgbClr val="0F172A"/>
                </a:solidFill>
              </a:defRPr>
            </a:pPr>
            <a:r>
              <a:t>• Pre-Commencement Cancellation: 100% refund if requested before the first scheduled class date.</a:t>
            </a:r>
            <a:br/>
            <a:r>
              <a:t>• Duplicate / Accidental Debit: 100% refund processed within 5-7 business days via Juspay gateway.</a:t>
            </a:r>
            <a:br/>
            <a:r>
              <a:t>• Technical Non-Delivery: Full refund if live class streaming fails due to server outages without alternative slots.</a:t>
            </a:r>
            <a:br/>
            <a:r>
              <a:t>• Post-Commencement Subscription: Non-refundable after active class attendance, but users can PAUSE their membership or transfer validity to another family member.</a:t>
            </a:r>
            <a:br/>
            <a:r>
              <a:t>• Chargeback Handling: Automated webhook logging provides full audit trail for disputed transactions.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9A3412"/>
                </a:solidFill>
              </a:defRPr>
            </a:pPr>
            <a:r>
              <a:t>TRIAL DISCLOSURES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F172A"/>
                </a:solidFill>
              </a:defRPr>
            </a:pPr>
            <a:r>
              <a:t>Free Trial Disclosures &amp; Auto-Debit Transition Safeguards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70432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64748B"/>
                </a:solidFill>
              </a:defRPr>
            </a:pPr>
            <a:r>
              <a:t>Ensuring transparent communication during 14-day trial to auto-renew transition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10728655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rIns="320040" tIns="320040"/>
          <a:lstStyle/>
          <a:p>
            <a:pPr algn="ctr">
              <a:defRPr sz="1300" b="1">
                <a:solidFill>
                  <a:srgbClr val="9A3412"/>
                </a:solidFill>
              </a:defRPr>
            </a:pPr>
            <a:r>
              <a:t>TRIAL TRANSITION COMPLIANCE PROTOCOL:</a:t>
            </a:r>
          </a:p>
          <a:p>
            <a:pPr>
              <a:spcBef>
                <a:spcPts val="1200"/>
              </a:spcBef>
              <a:defRPr sz="1100">
                <a:solidFill>
                  <a:srgbClr val="0F172A"/>
                </a:solidFill>
              </a:defRPr>
            </a:pPr>
            <a:r>
              <a:t>• Day 0 Signup Disclosure: Clearly states '14 Days Free, then ₹4,999/year starting on [Date]. Cancel anytime during trial for ₹0 charge.'</a:t>
            </a:r>
            <a:br/>
            <a:r>
              <a:t>• Day 11 Advance Alert (WhatsApp &amp; Email): 'Your free trial ends in 3 days. Your annual subscription will renew on [Date].'</a:t>
            </a:r>
            <a:br/>
            <a:r>
              <a:t>• Day 13 Final 24h Reminder: 'Your Sri Sri Yoga annual membership will activate tomorrow. Manage or cancel here: [Link]'</a:t>
            </a:r>
            <a:br/>
            <a:r>
              <a:t>• Day 14 Mandate Execution: Official GST tax invoice dispatched immediately upon successful charge.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9A3412"/>
                </a:solidFill>
              </a:defRPr>
            </a:pPr>
            <a:r>
              <a:t>DATA PROTECTION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F172A"/>
                </a:solidFill>
              </a:defRPr>
            </a:pPr>
            <a:r>
              <a:t>Digital Personal Data Protection (DPDP Act 2023) Compliance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70432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64748B"/>
                </a:solidFill>
              </a:defRPr>
            </a:pPr>
            <a:r>
              <a:t>Data minimization, purpose limitation, and subscriber consent architecture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10728655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rIns="320040" tIns="320040"/>
          <a:lstStyle/>
          <a:p>
            <a:pPr algn="ctr">
              <a:defRPr sz="1300" b="1">
                <a:solidFill>
                  <a:srgbClr val="166534"/>
                </a:solidFill>
              </a:defRPr>
            </a:pPr>
            <a:r>
              <a:t>DPDP ACT 2023 COMPLIANCE MANDATES:</a:t>
            </a:r>
          </a:p>
          <a:p>
            <a:pPr>
              <a:spcBef>
                <a:spcPts val="1200"/>
              </a:spcBef>
              <a:defRPr sz="1100">
                <a:solidFill>
                  <a:srgbClr val="0F172A"/>
                </a:solidFill>
              </a:defRPr>
            </a:pPr>
            <a:r>
              <a:t>1. Data Minimization: Pre-payment questionnaire captures only high-level wellness intent. Sensitive personal data collected post-payment only for yoga delivery.</a:t>
            </a:r>
            <a:br/>
            <a:r>
              <a:t>2. Purpose Limitation: Subscriber data used exclusively for course coordination and ashram updates.</a:t>
            </a:r>
            <a:br/>
            <a:r>
              <a:t>3. Right to Erasure: Subscribers can request deletion of account and health records via privacy portal.</a:t>
            </a:r>
            <a:br/>
            <a:r>
              <a:t>4. Consent Artifact Logging: Consent timestamp and IP address stored in secure audit log.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9A3412"/>
                </a:solidFill>
              </a:defRPr>
            </a:pPr>
            <a:r>
              <a:t>SIGN-OFF CHECKLIST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F172A"/>
                </a:solidFill>
              </a:defRPr>
            </a:pPr>
            <a:r>
              <a:t>Legal &amp; Operational Sign-Off Checklist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70432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64748B"/>
                </a:solidFill>
              </a:defRPr>
            </a:pPr>
            <a:r>
              <a:t>Required validation items before production deployment of Juspay AutoPay integration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10728655" cy="4663440"/>
          </a:xfrm>
          <a:prstGeom prst="roundRect">
            <a:avLst/>
          </a:prstGeom>
          <a:solidFill>
            <a:srgbClr val="DCFCE7"/>
          </a:solidFill>
          <a:ln w="1524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rIns="320040" tIns="320040"/>
          <a:lstStyle/>
          <a:p>
            <a:pPr algn="ctr">
              <a:defRPr sz="1300" b="1">
                <a:solidFill>
                  <a:srgbClr val="166534"/>
                </a:solidFill>
              </a:defRPr>
            </a:pPr>
            <a:r>
              <a:t>LEGAL SIGN-OFF CHECKLIST PRIOR TO LIVE LAUNCH:</a:t>
            </a:r>
          </a:p>
          <a:p>
            <a:pPr>
              <a:spcBef>
                <a:spcPts val="1200"/>
              </a:spcBef>
              <a:defRPr sz="1100">
                <a:solidFill>
                  <a:srgbClr val="0F172A"/>
                </a:solidFill>
              </a:defRPr>
            </a:pPr>
            <a:r>
              <a:t>☑️ Terms of Service &amp; Online Yoga Health Waiver reviewed by legal counsel</a:t>
            </a:r>
            <a:br/>
            <a:r>
              <a:t>☑️ Privacy Policy updated with DPDP Act 2023 compliance</a:t>
            </a:r>
            <a:br/>
            <a:r>
              <a:t>☑️ RBI e-Mandate pre-debit SMS/Email notification template approved</a:t>
            </a:r>
            <a:br/>
            <a:r>
              <a:t>☑️ Refund &amp; Cancellation Policy published on website footer and checkout modal</a:t>
            </a:r>
            <a:br/>
            <a:r>
              <a:t>☑️ Juspay AutoPay mandate registration terms verified against NPCI guidelines</a:t>
            </a:r>
            <a:br/>
            <a:r>
              <a:t>☑️ Customer Support Escalation SLA (24h turnaround) established for billing disputes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1005840"/>
            <a:ext cx="10728655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0" tIns="548640"/>
          <a:lstStyle/>
          <a:p>
            <a:pPr algn="ctr">
              <a:defRPr sz="1300" b="1">
                <a:solidFill>
                  <a:srgbClr val="9A3412"/>
                </a:solidFill>
              </a:defRPr>
            </a:pPr>
            <a:r>
              <a:t>THE ART OF LIVING • SRI SRI YOGA</a:t>
            </a:r>
          </a:p>
          <a:p>
            <a:pPr>
              <a:spcBef>
                <a:spcPts val="1000"/>
              </a:spcBef>
              <a:defRPr sz="2800" b="1">
                <a:solidFill>
                  <a:srgbClr val="0F172A"/>
                </a:solidFill>
              </a:defRPr>
            </a:pPr>
            <a:r>
              <a:t>Legal &amp; Compliance Approval Protocol</a:t>
            </a:r>
          </a:p>
          <a:p>
            <a:pPr>
              <a:spcBef>
                <a:spcPts val="1200"/>
              </a:spcBef>
              <a:defRPr sz="1200">
                <a:solidFill>
                  <a:srgbClr val="64748B"/>
                </a:solidFill>
              </a:defRPr>
            </a:pPr>
            <a:r>
              <a:t>• Legal Deck ready for review by Art of Living Legal Counsel &amp; Finance Director.</a:t>
            </a:r>
            <a:br/>
            <a:r>
              <a:t>• All compliance artifacts, terms templates, and consent copies are finalized for production sign-off.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